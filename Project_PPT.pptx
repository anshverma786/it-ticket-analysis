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67" r:id="rId1"/>
  </p:sldMasterIdLst>
  <p:notesMasterIdLst>
    <p:notesMasterId r:id="rId24"/>
  </p:notesMasterIdLst>
  <p:sldIdLst>
    <p:sldId id="256" r:id="rId2"/>
    <p:sldId id="257" r:id="rId3"/>
    <p:sldId id="258" r:id="rId4"/>
    <p:sldId id="259" r:id="rId5"/>
    <p:sldId id="283" r:id="rId6"/>
    <p:sldId id="260" r:id="rId7"/>
    <p:sldId id="295" r:id="rId8"/>
    <p:sldId id="264" r:id="rId9"/>
    <p:sldId id="285" r:id="rId10"/>
    <p:sldId id="286" r:id="rId11"/>
    <p:sldId id="287" r:id="rId12"/>
    <p:sldId id="288" r:id="rId13"/>
    <p:sldId id="289" r:id="rId14"/>
    <p:sldId id="290" r:id="rId15"/>
    <p:sldId id="291" r:id="rId16"/>
    <p:sldId id="292" r:id="rId17"/>
    <p:sldId id="293" r:id="rId18"/>
    <p:sldId id="294" r:id="rId19"/>
    <p:sldId id="279" r:id="rId20"/>
    <p:sldId id="281" r:id="rId21"/>
    <p:sldId id="284" r:id="rId22"/>
    <p:sldId id="282" r:id="rId23"/>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userDrawn="1">
          <p15:clr>
            <a:srgbClr val="A4A3A4"/>
          </p15:clr>
        </p15:guide>
        <p15:guide id="2" pos="38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5033" autoAdjust="0"/>
  </p:normalViewPr>
  <p:slideViewPr>
    <p:cSldViewPr>
      <p:cViewPr varScale="1">
        <p:scale>
          <a:sx n="78" d="100"/>
          <a:sy n="78" d="100"/>
        </p:scale>
        <p:origin x="850" y="4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83" d="100"/>
          <a:sy n="83" d="100"/>
        </p:scale>
        <p:origin x="1392" y="67"/>
      </p:cViewPr>
      <p:guideLst>
        <p:guide orient="horz" pos="2160"/>
        <p:guide pos="38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DF8344B-C554-4B53-8590-BB78D81C2AC6}" type="datetimeFigureOut">
              <a:rPr lang="en-IN" smtClean="0"/>
              <a:t>03-10-2025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4348400-2942-4E0E-95AA-6E002C553B7B}" type="slidenum">
              <a:rPr lang="en-IN" smtClean="0"/>
              <a:t>‹#›</a:t>
            </a:fld>
            <a:endParaRPr lang="en-IN"/>
          </a:p>
        </p:txBody>
      </p:sp>
    </p:spTree>
    <p:extLst>
      <p:ext uri="{BB962C8B-B14F-4D97-AF65-F5344CB8AC3E}">
        <p14:creationId xmlns:p14="http://schemas.microsoft.com/office/powerpoint/2010/main" val="1580042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348400-2942-4E0E-95AA-6E002C553B7B}" type="slidenum">
              <a:rPr lang="en-IN" smtClean="0"/>
              <a:t>9</a:t>
            </a:fld>
            <a:endParaRPr lang="en-IN"/>
          </a:p>
        </p:txBody>
      </p:sp>
    </p:spTree>
    <p:extLst>
      <p:ext uri="{BB962C8B-B14F-4D97-AF65-F5344CB8AC3E}">
        <p14:creationId xmlns:p14="http://schemas.microsoft.com/office/powerpoint/2010/main" val="3527748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044159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80976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57237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133254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10/3/2025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427071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10/3/2025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11464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10/3/2025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37372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10/3/2025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780859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t>10/3/2025</a:t>
            </a:fld>
            <a:endParaRPr lang="en-US"/>
          </a:p>
        </p:txBody>
      </p:sp>
    </p:spTree>
    <p:extLst>
      <p:ext uri="{BB962C8B-B14F-4D97-AF65-F5344CB8AC3E}">
        <p14:creationId xmlns:p14="http://schemas.microsoft.com/office/powerpoint/2010/main" val="612116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717862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57994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069686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68705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75429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99651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10/3/2025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85702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42257" y="205181"/>
            <a:ext cx="3303904" cy="514350"/>
          </a:xfrm>
          <a:prstGeom prst="rect">
            <a:avLst/>
          </a:prstGeom>
        </p:spPr>
        <p:txBody>
          <a:bodyPr wrap="square" lIns="0" tIns="0" rIns="0" bIns="0">
            <a:spAutoFit/>
          </a:bodyPr>
          <a:lstStyle>
            <a:lvl1pPr>
              <a:defRPr sz="2800" b="1" i="0" u="sng">
                <a:solidFill>
                  <a:srgbClr val="006FC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1" i="0">
                <a:solidFill>
                  <a:srgbClr val="006FC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51489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10/3/2025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972907505"/>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220703" y="1526667"/>
            <a:ext cx="3808498" cy="443070"/>
          </a:xfrm>
          <a:prstGeom prst="rect">
            <a:avLst/>
          </a:prstGeom>
        </p:spPr>
        <p:txBody>
          <a:bodyPr vert="horz" wrap="square" lIns="0" tIns="12065" rIns="0" bIns="0" rtlCol="0">
            <a:spAutoFit/>
          </a:bodyPr>
          <a:lstStyle/>
          <a:p>
            <a:pPr marL="12700" algn="ctr">
              <a:lnSpc>
                <a:spcPct val="100000"/>
              </a:lnSpc>
              <a:spcBef>
                <a:spcPts val="95"/>
              </a:spcBef>
            </a:pPr>
            <a:r>
              <a:rPr lang="en-IN" sz="2800" u="sng" dirty="0">
                <a:ln w="0"/>
                <a:solidFill>
                  <a:schemeClr val="tx1"/>
                </a:solidFill>
                <a:effectLst>
                  <a:outerShdw blurRad="38100" dist="25400" dir="5400000" algn="ctr" rotWithShape="0">
                    <a:srgbClr val="6E747A">
                      <a:alpha val="43000"/>
                    </a:srgbClr>
                  </a:outerShdw>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Spreadsheet Project</a:t>
            </a:r>
            <a:endParaRPr sz="2800" u="sng" dirty="0">
              <a:ln w="0"/>
              <a:solidFill>
                <a:schemeClr val="tx1"/>
              </a:solidFill>
              <a:effectLst>
                <a:outerShdw blurRad="38100" dist="25400" dir="5400000" algn="ctr" rotWithShape="0">
                  <a:srgbClr val="6E747A">
                    <a:alpha val="43000"/>
                  </a:srgbClr>
                </a:outerShdw>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p:txBody>
      </p:sp>
      <p:sp>
        <p:nvSpPr>
          <p:cNvPr id="10" name="object 10"/>
          <p:cNvSpPr txBox="1"/>
          <p:nvPr/>
        </p:nvSpPr>
        <p:spPr>
          <a:xfrm>
            <a:off x="1530725" y="2421298"/>
            <a:ext cx="3188454" cy="443070"/>
          </a:xfrm>
          <a:prstGeom prst="rect">
            <a:avLst/>
          </a:prstGeom>
        </p:spPr>
        <p:txBody>
          <a:bodyPr vert="horz" wrap="square" lIns="0" tIns="12065" rIns="0" bIns="0" rtlCol="0">
            <a:spAutoFit/>
          </a:bodyPr>
          <a:lstStyle/>
          <a:p>
            <a:pPr marL="27940" marR="5080" indent="-15240" algn="ctr">
              <a:lnSpc>
                <a:spcPct val="100000"/>
              </a:lnSpc>
              <a:spcBef>
                <a:spcPts val="95"/>
              </a:spcBef>
            </a:pPr>
            <a:r>
              <a:rPr lang="en-IN" sz="2800" u="sng" dirty="0">
                <a:ln w="0"/>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rPr>
              <a:t>IT Ticket Analysis</a:t>
            </a:r>
            <a:endParaRPr sz="2800" u="sng" dirty="0">
              <a:ln w="0"/>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1DC71113-EB50-BF12-4425-AC703423F6BB}"/>
              </a:ext>
            </a:extLst>
          </p:cNvPr>
          <p:cNvSpPr txBox="1"/>
          <p:nvPr/>
        </p:nvSpPr>
        <p:spPr>
          <a:xfrm>
            <a:off x="1677903" y="3315929"/>
            <a:ext cx="2894098" cy="584775"/>
          </a:xfrm>
          <a:prstGeom prst="rect">
            <a:avLst/>
          </a:prstGeom>
          <a:noFill/>
        </p:spPr>
        <p:txBody>
          <a:bodyPr wrap="square" rtlCol="0">
            <a:spAutoFit/>
          </a:bodyPr>
          <a:lstStyle/>
          <a:p>
            <a:pPr algn="ctr"/>
            <a:r>
              <a:rPr lang="en-IN" sz="1600" u="sng" dirty="0">
                <a:ln w="0"/>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rPr>
              <a:t>Presented By: Ansh Verma</a:t>
            </a:r>
          </a:p>
          <a:p>
            <a:pPr algn="ctr"/>
            <a:r>
              <a:rPr lang="en-IN" sz="1600" u="sng" dirty="0">
                <a:ln w="0"/>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rPr>
              <a:t>Date : 30-09-2025</a:t>
            </a:r>
            <a:endParaRPr lang="en-IN" sz="1600" u="sng" dirty="0">
              <a:latin typeface="Calibri" panose="020F0502020204030204" pitchFamily="34" charset="0"/>
              <a:ea typeface="Calibri" panose="020F0502020204030204" pitchFamily="34" charset="0"/>
              <a:cs typeface="Calibri" panose="020F0502020204030204" pitchFamily="34" charset="0"/>
            </a:endParaRPr>
          </a:p>
        </p:txBody>
      </p:sp>
      <p:pic>
        <p:nvPicPr>
          <p:cNvPr id="26" name="Picture 25">
            <a:extLst>
              <a:ext uri="{FF2B5EF4-FFF2-40B4-BE49-F238E27FC236}">
                <a16:creationId xmlns:a16="http://schemas.microsoft.com/office/drawing/2014/main" id="{D510B5CB-F41C-CFAD-8F97-EDEA31964CD3}"/>
              </a:ext>
            </a:extLst>
          </p:cNvPr>
          <p:cNvPicPr>
            <a:picLocks noChangeAspect="1"/>
          </p:cNvPicPr>
          <p:nvPr/>
        </p:nvPicPr>
        <p:blipFill>
          <a:blip r:embed="rId2">
            <a:extLst>
              <a:ext uri="{28A0092B-C50C-407E-A947-70E740481C1C}">
                <a14:useLocalDpi xmlns:a14="http://schemas.microsoft.com/office/drawing/2010/main" val="0"/>
              </a:ext>
            </a:extLst>
          </a:blip>
          <a:srcRect l="8460" r="8460"/>
          <a:stretch/>
        </p:blipFill>
        <p:spPr>
          <a:xfrm>
            <a:off x="6477000" y="998486"/>
            <a:ext cx="5257800" cy="397798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792220" y="291816"/>
            <a:ext cx="4607560" cy="443711"/>
          </a:xfrm>
          <a:prstGeom prst="rect">
            <a:avLst/>
          </a:prstGeom>
        </p:spPr>
        <p:txBody>
          <a:bodyPr vert="horz" wrap="square" lIns="0" tIns="12700" rIns="0" bIns="0" rtlCol="0">
            <a:spAutoFit/>
          </a:bodyPr>
          <a:lstStyle/>
          <a:p>
            <a:pPr marL="12700" algn="ctr">
              <a:lnSpc>
                <a:spcPct val="100000"/>
              </a:lnSpc>
              <a:spcBef>
                <a:spcPts val="100"/>
              </a:spcBef>
            </a:pPr>
            <a:r>
              <a:rPr sz="2800" dirty="0">
                <a:solidFill>
                  <a:schemeClr val="tx1"/>
                </a:solidFill>
                <a:latin typeface="Calibri" panose="020F0502020204030204" pitchFamily="34" charset="0"/>
                <a:ea typeface="Calibri" panose="020F0502020204030204" pitchFamily="34" charset="0"/>
                <a:cs typeface="Calibri" panose="020F0502020204030204" pitchFamily="34" charset="0"/>
              </a:rPr>
              <a:t>What</a:t>
            </a:r>
            <a:r>
              <a:rPr sz="2800" spc="-45"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sz="2800" dirty="0">
                <a:solidFill>
                  <a:schemeClr val="tx1"/>
                </a:solidFill>
                <a:latin typeface="Calibri" panose="020F0502020204030204" pitchFamily="34" charset="0"/>
                <a:ea typeface="Calibri" panose="020F0502020204030204" pitchFamily="34" charset="0"/>
                <a:cs typeface="Calibri" panose="020F0502020204030204" pitchFamily="34" charset="0"/>
              </a:rPr>
              <a:t>is</a:t>
            </a:r>
            <a:r>
              <a:rPr sz="2800" spc="-6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sz="2800" spc="-60" dirty="0">
                <a:solidFill>
                  <a:schemeClr val="tx1"/>
                </a:solidFill>
                <a:latin typeface="Calibri" panose="020F0502020204030204" pitchFamily="34" charset="0"/>
                <a:ea typeface="Calibri" panose="020F0502020204030204" pitchFamily="34" charset="0"/>
                <a:cs typeface="Calibri" panose="020F0502020204030204" pitchFamily="34" charset="0"/>
              </a:rPr>
              <a:t>IT Ticket Analysis</a:t>
            </a:r>
            <a:r>
              <a:rPr sz="2800" spc="-35"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sz="2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4" name="object 4"/>
          <p:cNvGrpSpPr/>
          <p:nvPr/>
        </p:nvGrpSpPr>
        <p:grpSpPr>
          <a:xfrm>
            <a:off x="3745991" y="2289098"/>
            <a:ext cx="66675" cy="42545"/>
            <a:chOff x="3745991" y="2289098"/>
            <a:chExt cx="66675" cy="42545"/>
          </a:xfrm>
        </p:grpSpPr>
        <p:pic>
          <p:nvPicPr>
            <p:cNvPr id="5" name="object 5"/>
            <p:cNvPicPr/>
            <p:nvPr/>
          </p:nvPicPr>
          <p:blipFill>
            <a:blip r:embed="rId2" cstate="print"/>
            <a:stretch>
              <a:fillRect/>
            </a:stretch>
          </p:blipFill>
          <p:spPr>
            <a:xfrm>
              <a:off x="3745991" y="2289098"/>
              <a:ext cx="66294" cy="41986"/>
            </a:xfrm>
            <a:prstGeom prst="rect">
              <a:avLst/>
            </a:prstGeom>
          </p:spPr>
        </p:pic>
        <p:sp>
          <p:nvSpPr>
            <p:cNvPr id="6" name="object 6"/>
            <p:cNvSpPr/>
            <p:nvPr/>
          </p:nvSpPr>
          <p:spPr>
            <a:xfrm>
              <a:off x="3752468" y="2295271"/>
              <a:ext cx="38100" cy="13970"/>
            </a:xfrm>
            <a:custGeom>
              <a:avLst/>
              <a:gdLst/>
              <a:ahLst/>
              <a:cxnLst/>
              <a:rect l="l" t="t" r="r" b="b"/>
              <a:pathLst>
                <a:path w="38100" h="13969">
                  <a:moveTo>
                    <a:pt x="38100" y="0"/>
                  </a:moveTo>
                  <a:lnTo>
                    <a:pt x="0" y="0"/>
                  </a:lnTo>
                  <a:lnTo>
                    <a:pt x="0" y="13715"/>
                  </a:lnTo>
                  <a:lnTo>
                    <a:pt x="38100" y="13715"/>
                  </a:lnTo>
                  <a:lnTo>
                    <a:pt x="38100" y="0"/>
                  </a:lnTo>
                  <a:close/>
                </a:path>
              </a:pathLst>
            </a:custGeom>
            <a:solidFill>
              <a:srgbClr val="000000"/>
            </a:solidFill>
          </p:spPr>
          <p:txBody>
            <a:bodyPr wrap="square" lIns="0" tIns="0" rIns="0" bIns="0" rtlCol="0"/>
            <a:lstStyle/>
            <a:p>
              <a:endParaRPr/>
            </a:p>
          </p:txBody>
        </p:sp>
      </p:grpSp>
      <p:pic>
        <p:nvPicPr>
          <p:cNvPr id="9" name="Picture 8">
            <a:extLst>
              <a:ext uri="{FF2B5EF4-FFF2-40B4-BE49-F238E27FC236}">
                <a16:creationId xmlns:a16="http://schemas.microsoft.com/office/drawing/2014/main" id="{6F7B1BFF-4D0A-A596-C90A-8E8587CCA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4657" y="974273"/>
            <a:ext cx="5542687" cy="260712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4" name="Rectangle 3">
            <a:extLst>
              <a:ext uri="{FF2B5EF4-FFF2-40B4-BE49-F238E27FC236}">
                <a16:creationId xmlns:a16="http://schemas.microsoft.com/office/drawing/2014/main" id="{BEFEA2E7-7961-D709-422D-B4323E39E9ED}"/>
              </a:ext>
            </a:extLst>
          </p:cNvPr>
          <p:cNvSpPr>
            <a:spLocks noChangeArrowheads="1"/>
          </p:cNvSpPr>
          <p:nvPr/>
        </p:nvSpPr>
        <p:spPr bwMode="auto">
          <a:xfrm>
            <a:off x="2971800" y="4023955"/>
            <a:ext cx="62484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Manages customer inquiries and issues through digital tickets.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Tracks conversations, notes, and files for each case.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Ensures no issue is missed or overlooked.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Provides structured, faster resolution process.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Improves organization and customer support efficiency.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7754" y="1780311"/>
            <a:ext cx="11396980" cy="4189729"/>
            <a:chOff x="397754" y="1780311"/>
            <a:chExt cx="11396980" cy="4189729"/>
          </a:xfrm>
        </p:grpSpPr>
        <p:pic>
          <p:nvPicPr>
            <p:cNvPr id="3" name="object 3"/>
            <p:cNvPicPr/>
            <p:nvPr/>
          </p:nvPicPr>
          <p:blipFill>
            <a:blip r:embed="rId2" cstate="print"/>
            <a:stretch>
              <a:fillRect/>
            </a:stretch>
          </p:blipFill>
          <p:spPr>
            <a:xfrm>
              <a:off x="397754" y="1783073"/>
              <a:ext cx="11396491" cy="4186437"/>
            </a:xfrm>
            <a:prstGeom prst="rect">
              <a:avLst/>
            </a:prstGeom>
          </p:spPr>
        </p:pic>
        <p:sp>
          <p:nvSpPr>
            <p:cNvPr id="4" name="object 4"/>
            <p:cNvSpPr/>
            <p:nvPr/>
          </p:nvSpPr>
          <p:spPr>
            <a:xfrm>
              <a:off x="5015611" y="1780311"/>
              <a:ext cx="2173605" cy="4111625"/>
            </a:xfrm>
            <a:custGeom>
              <a:avLst/>
              <a:gdLst/>
              <a:ahLst/>
              <a:cxnLst/>
              <a:rect l="l" t="t" r="r" b="b"/>
              <a:pathLst>
                <a:path w="2173604" h="4111625">
                  <a:moveTo>
                    <a:pt x="2173605" y="0"/>
                  </a:moveTo>
                  <a:lnTo>
                    <a:pt x="0" y="0"/>
                  </a:lnTo>
                  <a:lnTo>
                    <a:pt x="0" y="4111625"/>
                  </a:lnTo>
                  <a:lnTo>
                    <a:pt x="2173605" y="4111625"/>
                  </a:lnTo>
                  <a:lnTo>
                    <a:pt x="2173605" y="0"/>
                  </a:lnTo>
                  <a:close/>
                </a:path>
              </a:pathLst>
            </a:custGeom>
            <a:solidFill>
              <a:srgbClr val="EBDFDB"/>
            </a:solidFill>
          </p:spPr>
          <p:txBody>
            <a:bodyPr wrap="square" lIns="0" tIns="0" rIns="0" bIns="0" rtlCol="0"/>
            <a:lstStyle/>
            <a:p>
              <a:endParaRPr/>
            </a:p>
          </p:txBody>
        </p:sp>
        <p:pic>
          <p:nvPicPr>
            <p:cNvPr id="5" name="object 5"/>
            <p:cNvPicPr/>
            <p:nvPr/>
          </p:nvPicPr>
          <p:blipFill>
            <a:blip r:embed="rId3" cstate="print"/>
            <a:stretch>
              <a:fillRect/>
            </a:stretch>
          </p:blipFill>
          <p:spPr>
            <a:xfrm>
              <a:off x="5085587" y="2799588"/>
              <a:ext cx="1104138" cy="1009650"/>
            </a:xfrm>
            <a:prstGeom prst="rect">
              <a:avLst/>
            </a:prstGeom>
          </p:spPr>
        </p:pic>
      </p:grpSp>
      <p:sp>
        <p:nvSpPr>
          <p:cNvPr id="6" name="object 6"/>
          <p:cNvSpPr txBox="1"/>
          <p:nvPr/>
        </p:nvSpPr>
        <p:spPr>
          <a:xfrm>
            <a:off x="433387" y="1780311"/>
            <a:ext cx="2173605" cy="4444807"/>
          </a:xfrm>
          <a:prstGeom prst="rect">
            <a:avLst/>
          </a:prstGeom>
          <a:solidFill>
            <a:schemeClr val="accent1">
              <a:lumMod val="20000"/>
              <a:lumOff val="80000"/>
            </a:schemeClr>
          </a:solidFill>
          <a:ln>
            <a:noFill/>
          </a:ln>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spcBef>
                <a:spcPts val="880"/>
              </a:spcBef>
            </a:pPr>
            <a:endParaRPr sz="3600" dirty="0">
              <a:latin typeface="Times New Roman"/>
              <a:cs typeface="Times New Roman"/>
            </a:endParaRPr>
          </a:p>
          <a:p>
            <a:pPr marR="196850" algn="ctr">
              <a:lnSpc>
                <a:spcPct val="100000"/>
              </a:lnSpc>
            </a:pPr>
            <a:r>
              <a:rPr sz="3600" spc="-25" dirty="0">
                <a:latin typeface="Tahoma"/>
                <a:cs typeface="Tahoma"/>
              </a:rPr>
              <a:t>01</a:t>
            </a:r>
            <a:endParaRPr sz="3600" dirty="0">
              <a:latin typeface="Tahoma"/>
              <a:cs typeface="Tahoma"/>
            </a:endParaRPr>
          </a:p>
          <a:p>
            <a:pPr marL="449580" marR="643890">
              <a:lnSpc>
                <a:spcPct val="100000"/>
              </a:lnSpc>
              <a:spcBef>
                <a:spcPts val="2220"/>
              </a:spcBef>
            </a:pPr>
            <a:r>
              <a:rPr lang="en-IN" sz="2000" spc="-10" dirty="0">
                <a:latin typeface="Calibri"/>
                <a:cs typeface="Calibri"/>
              </a:rPr>
              <a:t>Data Overview </a:t>
            </a:r>
            <a:endParaRPr lang="en-IN" sz="2000" spc="-25" dirty="0">
              <a:latin typeface="Calibri"/>
              <a:cs typeface="Calibri"/>
            </a:endParaRPr>
          </a:p>
          <a:p>
            <a:pPr marL="449580" marR="643890">
              <a:lnSpc>
                <a:spcPct val="100000"/>
              </a:lnSpc>
              <a:spcBef>
                <a:spcPts val="2220"/>
              </a:spcBef>
            </a:pPr>
            <a:endParaRPr lang="en-IN" sz="2000" spc="-25" dirty="0">
              <a:latin typeface="Calibri"/>
              <a:cs typeface="Calibri"/>
            </a:endParaRPr>
          </a:p>
          <a:p>
            <a:pPr marL="449580" marR="643890">
              <a:lnSpc>
                <a:spcPct val="100000"/>
              </a:lnSpc>
              <a:spcBef>
                <a:spcPts val="2220"/>
              </a:spcBef>
            </a:pPr>
            <a:endParaRPr lang="en-IN" sz="2000" spc="-25" dirty="0">
              <a:latin typeface="Calibri"/>
              <a:cs typeface="Calibri"/>
            </a:endParaRPr>
          </a:p>
          <a:p>
            <a:pPr marL="449580" marR="643890">
              <a:lnSpc>
                <a:spcPct val="100000"/>
              </a:lnSpc>
              <a:spcBef>
                <a:spcPts val="2220"/>
              </a:spcBef>
            </a:pPr>
            <a:endParaRPr lang="en-IN" sz="2000" dirty="0">
              <a:latin typeface="Calibri"/>
              <a:cs typeface="Calibri"/>
            </a:endParaRPr>
          </a:p>
        </p:txBody>
      </p:sp>
      <p:sp>
        <p:nvSpPr>
          <p:cNvPr id="7" name="object 7"/>
          <p:cNvSpPr txBox="1"/>
          <p:nvPr/>
        </p:nvSpPr>
        <p:spPr>
          <a:xfrm>
            <a:off x="2724530" y="1780311"/>
            <a:ext cx="2173605" cy="4893006"/>
          </a:xfrm>
          <a:prstGeom prst="rect">
            <a:avLst/>
          </a:prstGeom>
          <a:solidFill>
            <a:schemeClr val="accent2">
              <a:lumMod val="20000"/>
              <a:lumOff val="80000"/>
            </a:schemeClr>
          </a:solidFill>
        </p:spPr>
        <p:txBody>
          <a:bodyPr vert="horz" wrap="square" lIns="0" tIns="578485" rIns="0" bIns="0" rtlCol="0">
            <a:spAutoFit/>
          </a:bodyPr>
          <a:lstStyle/>
          <a:p>
            <a:pPr>
              <a:lnSpc>
                <a:spcPct val="100000"/>
              </a:lnSpc>
              <a:spcBef>
                <a:spcPts val="4555"/>
              </a:spcBef>
            </a:pPr>
            <a:endParaRPr sz="4000" dirty="0">
              <a:latin typeface="Times New Roman"/>
              <a:cs typeface="Times New Roman"/>
            </a:endParaRPr>
          </a:p>
          <a:p>
            <a:pPr marL="387350">
              <a:lnSpc>
                <a:spcPct val="100000"/>
              </a:lnSpc>
            </a:pPr>
            <a:r>
              <a:rPr sz="4000" spc="-25" dirty="0">
                <a:latin typeface="Tahoma"/>
                <a:cs typeface="Tahoma"/>
              </a:rPr>
              <a:t>02</a:t>
            </a:r>
            <a:endParaRPr lang="en-IN" sz="4000" spc="-25" dirty="0">
              <a:latin typeface="Tahoma"/>
              <a:cs typeface="Tahoma"/>
            </a:endParaRPr>
          </a:p>
          <a:p>
            <a:pPr marL="387350">
              <a:lnSpc>
                <a:spcPct val="100000"/>
              </a:lnSpc>
            </a:pPr>
            <a:endParaRPr lang="en-IN" sz="2000" spc="-25" dirty="0">
              <a:latin typeface="Calibri" panose="020F0502020204030204" pitchFamily="34" charset="0"/>
              <a:ea typeface="Calibri" panose="020F0502020204030204" pitchFamily="34" charset="0"/>
              <a:cs typeface="Calibri" panose="020F0502020204030204" pitchFamily="34" charset="0"/>
            </a:endParaRPr>
          </a:p>
          <a:p>
            <a:pPr marL="387350">
              <a:lnSpc>
                <a:spcPct val="100000"/>
              </a:lnSpc>
            </a:pPr>
            <a:r>
              <a:rPr lang="en-IN" sz="2000" spc="-25" dirty="0">
                <a:latin typeface="Calibri" panose="020F0502020204030204" pitchFamily="34" charset="0"/>
                <a:ea typeface="Calibri" panose="020F0502020204030204" pitchFamily="34" charset="0"/>
                <a:cs typeface="Calibri" panose="020F0502020204030204" pitchFamily="34" charset="0"/>
              </a:rPr>
              <a:t>Problem Statement and Dataset</a:t>
            </a:r>
          </a:p>
          <a:p>
            <a:pPr marL="387350">
              <a:lnSpc>
                <a:spcPct val="100000"/>
              </a:lnSpc>
            </a:pPr>
            <a:endParaRPr lang="en-IN" sz="4000" spc="-25" dirty="0">
              <a:latin typeface="Tahoma"/>
              <a:cs typeface="Tahoma"/>
            </a:endParaRPr>
          </a:p>
          <a:p>
            <a:pPr marL="387350">
              <a:lnSpc>
                <a:spcPct val="100000"/>
              </a:lnSpc>
            </a:pPr>
            <a:endParaRPr lang="en-IN" sz="4000" spc="-25" dirty="0">
              <a:latin typeface="Tahoma"/>
              <a:cs typeface="Tahoma"/>
            </a:endParaRPr>
          </a:p>
          <a:p>
            <a:pPr marL="387350">
              <a:lnSpc>
                <a:spcPct val="100000"/>
              </a:lnSpc>
            </a:pPr>
            <a:endParaRPr sz="4000" dirty="0">
              <a:latin typeface="Tahoma"/>
              <a:cs typeface="Tahoma"/>
            </a:endParaRPr>
          </a:p>
        </p:txBody>
      </p:sp>
      <p:sp>
        <p:nvSpPr>
          <p:cNvPr id="8" name="object 8"/>
          <p:cNvSpPr txBox="1"/>
          <p:nvPr/>
        </p:nvSpPr>
        <p:spPr>
          <a:xfrm>
            <a:off x="5015610" y="1780311"/>
            <a:ext cx="2173605" cy="4701031"/>
          </a:xfrm>
          <a:prstGeom prst="rect">
            <a:avLst/>
          </a:prstGeom>
          <a:solidFill>
            <a:schemeClr val="accent1">
              <a:lumMod val="40000"/>
              <a:lumOff val="60000"/>
            </a:schemeClr>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spcBef>
                <a:spcPts val="880"/>
              </a:spcBef>
            </a:pPr>
            <a:endParaRPr sz="3600" dirty="0">
              <a:latin typeface="Times New Roman"/>
              <a:cs typeface="Times New Roman"/>
            </a:endParaRPr>
          </a:p>
          <a:p>
            <a:pPr marL="362585">
              <a:lnSpc>
                <a:spcPct val="100000"/>
              </a:lnSpc>
            </a:pPr>
            <a:r>
              <a:rPr sz="3600" spc="-25" dirty="0">
                <a:latin typeface="Tahoma"/>
                <a:cs typeface="Tahoma"/>
              </a:rPr>
              <a:t>03</a:t>
            </a:r>
            <a:endParaRPr sz="3600" dirty="0">
              <a:latin typeface="Tahoma"/>
              <a:cs typeface="Tahoma"/>
            </a:endParaRPr>
          </a:p>
          <a:p>
            <a:pPr marL="206375" marR="546735">
              <a:lnSpc>
                <a:spcPct val="115100"/>
              </a:lnSpc>
              <a:spcBef>
                <a:spcPts val="1550"/>
              </a:spcBef>
            </a:pPr>
            <a:r>
              <a:rPr sz="2000" spc="-20" dirty="0">
                <a:latin typeface="Calibri"/>
                <a:cs typeface="Calibri"/>
              </a:rPr>
              <a:t>Data </a:t>
            </a:r>
            <a:r>
              <a:rPr sz="2000" dirty="0">
                <a:latin typeface="Calibri"/>
                <a:cs typeface="Calibri"/>
              </a:rPr>
              <a:t>Description</a:t>
            </a:r>
            <a:r>
              <a:rPr sz="2000" spc="-85" dirty="0">
                <a:latin typeface="Calibri"/>
                <a:cs typeface="Calibri"/>
              </a:rPr>
              <a:t> </a:t>
            </a:r>
            <a:r>
              <a:rPr sz="2000" spc="-50" dirty="0">
                <a:latin typeface="Calibri"/>
                <a:cs typeface="Calibri"/>
              </a:rPr>
              <a:t>&amp; </a:t>
            </a:r>
            <a:r>
              <a:rPr sz="2000" spc="-10" dirty="0">
                <a:latin typeface="Calibri"/>
                <a:cs typeface="Calibri"/>
              </a:rPr>
              <a:t>Methodology</a:t>
            </a:r>
            <a:endParaRPr lang="en-IN" sz="2000" spc="-10" dirty="0">
              <a:latin typeface="Calibri"/>
              <a:cs typeface="Calibri"/>
            </a:endParaRPr>
          </a:p>
          <a:p>
            <a:pPr marL="206375" marR="546735">
              <a:lnSpc>
                <a:spcPct val="115100"/>
              </a:lnSpc>
              <a:spcBef>
                <a:spcPts val="1550"/>
              </a:spcBef>
            </a:pPr>
            <a:endParaRPr lang="en-IN" sz="2000" spc="-10" dirty="0">
              <a:latin typeface="Calibri"/>
              <a:cs typeface="Calibri"/>
            </a:endParaRPr>
          </a:p>
          <a:p>
            <a:pPr marL="206375" marR="546735">
              <a:lnSpc>
                <a:spcPct val="115100"/>
              </a:lnSpc>
              <a:spcBef>
                <a:spcPts val="1550"/>
              </a:spcBef>
            </a:pPr>
            <a:endParaRPr lang="en-IN" sz="2000" spc="-10" dirty="0">
              <a:latin typeface="Calibri"/>
              <a:cs typeface="Calibri"/>
            </a:endParaRPr>
          </a:p>
          <a:p>
            <a:pPr marL="206375" marR="546735">
              <a:lnSpc>
                <a:spcPct val="115100"/>
              </a:lnSpc>
              <a:spcBef>
                <a:spcPts val="1550"/>
              </a:spcBef>
            </a:pPr>
            <a:endParaRPr lang="en-IN" sz="2000" dirty="0">
              <a:latin typeface="Calibri"/>
              <a:cs typeface="Calibri"/>
            </a:endParaRPr>
          </a:p>
        </p:txBody>
      </p:sp>
      <p:sp>
        <p:nvSpPr>
          <p:cNvPr id="9" name="object 9"/>
          <p:cNvSpPr txBox="1"/>
          <p:nvPr/>
        </p:nvSpPr>
        <p:spPr>
          <a:xfrm>
            <a:off x="7306691" y="1780311"/>
            <a:ext cx="2173605" cy="4457631"/>
          </a:xfrm>
          <a:prstGeom prst="rect">
            <a:avLst/>
          </a:prstGeom>
          <a:solidFill>
            <a:schemeClr val="accent2">
              <a:lumMod val="40000"/>
              <a:lumOff val="60000"/>
            </a:schemeClr>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spcBef>
                <a:spcPts val="880"/>
              </a:spcBef>
            </a:pPr>
            <a:endParaRPr sz="3600" dirty="0">
              <a:latin typeface="Times New Roman"/>
              <a:cs typeface="Times New Roman"/>
            </a:endParaRPr>
          </a:p>
          <a:p>
            <a:pPr marL="362585">
              <a:lnSpc>
                <a:spcPct val="100000"/>
              </a:lnSpc>
            </a:pPr>
            <a:r>
              <a:rPr sz="3600" spc="-25" dirty="0">
                <a:latin typeface="Tahoma"/>
                <a:cs typeface="Tahoma"/>
              </a:rPr>
              <a:t>04</a:t>
            </a:r>
            <a:endParaRPr sz="3600" dirty="0">
              <a:latin typeface="Tahoma"/>
              <a:cs typeface="Tahoma"/>
            </a:endParaRPr>
          </a:p>
          <a:p>
            <a:pPr marL="362585">
              <a:lnSpc>
                <a:spcPct val="100000"/>
              </a:lnSpc>
              <a:spcBef>
                <a:spcPts val="1710"/>
              </a:spcBef>
            </a:pPr>
            <a:r>
              <a:rPr sz="2000" dirty="0">
                <a:latin typeface="Calibri"/>
                <a:cs typeface="Calibri"/>
              </a:rPr>
              <a:t>Key</a:t>
            </a:r>
            <a:r>
              <a:rPr sz="2000" spc="-90" dirty="0">
                <a:latin typeface="Calibri"/>
                <a:cs typeface="Calibri"/>
              </a:rPr>
              <a:t> </a:t>
            </a:r>
            <a:r>
              <a:rPr sz="2000" dirty="0">
                <a:latin typeface="Calibri"/>
                <a:cs typeface="Calibri"/>
              </a:rPr>
              <a:t>Metrics</a:t>
            </a:r>
            <a:r>
              <a:rPr sz="2000" spc="-55" dirty="0">
                <a:latin typeface="Calibri"/>
                <a:cs typeface="Calibri"/>
              </a:rPr>
              <a:t> </a:t>
            </a:r>
            <a:r>
              <a:rPr sz="2000" spc="-50" dirty="0">
                <a:latin typeface="Calibri"/>
                <a:cs typeface="Calibri"/>
              </a:rPr>
              <a:t>&amp;</a:t>
            </a:r>
            <a:endParaRPr sz="2000" dirty="0">
              <a:latin typeface="Calibri"/>
              <a:cs typeface="Calibri"/>
            </a:endParaRPr>
          </a:p>
          <a:p>
            <a:pPr marL="362585">
              <a:lnSpc>
                <a:spcPct val="100000"/>
              </a:lnSpc>
            </a:pPr>
            <a:r>
              <a:rPr lang="en-IN" sz="2000" spc="-10" dirty="0">
                <a:latin typeface="Calibri"/>
                <a:cs typeface="Calibri"/>
              </a:rPr>
              <a:t>Insights</a:t>
            </a:r>
          </a:p>
          <a:p>
            <a:pPr marL="362585">
              <a:lnSpc>
                <a:spcPct val="100000"/>
              </a:lnSpc>
            </a:pPr>
            <a:endParaRPr lang="en-IN" sz="2000" spc="-10" dirty="0">
              <a:latin typeface="Calibri"/>
              <a:cs typeface="Calibri"/>
            </a:endParaRPr>
          </a:p>
          <a:p>
            <a:pPr marL="362585">
              <a:lnSpc>
                <a:spcPct val="100000"/>
              </a:lnSpc>
            </a:pPr>
            <a:endParaRPr lang="en-IN" sz="2000" spc="-10" dirty="0">
              <a:latin typeface="Calibri"/>
              <a:cs typeface="Calibri"/>
            </a:endParaRPr>
          </a:p>
          <a:p>
            <a:pPr marL="362585">
              <a:lnSpc>
                <a:spcPct val="100000"/>
              </a:lnSpc>
            </a:pPr>
            <a:endParaRPr lang="en-IN" sz="2000" spc="-10" dirty="0">
              <a:latin typeface="Calibri"/>
              <a:cs typeface="Calibri"/>
            </a:endParaRPr>
          </a:p>
          <a:p>
            <a:pPr marL="362585">
              <a:lnSpc>
                <a:spcPct val="100000"/>
              </a:lnSpc>
            </a:pPr>
            <a:endParaRPr lang="en-IN" sz="2000" spc="-10" dirty="0">
              <a:latin typeface="Calibri"/>
              <a:cs typeface="Calibri"/>
            </a:endParaRPr>
          </a:p>
          <a:p>
            <a:pPr marL="362585">
              <a:lnSpc>
                <a:spcPct val="100000"/>
              </a:lnSpc>
            </a:pPr>
            <a:endParaRPr lang="en-IN" sz="2000" spc="-10" dirty="0">
              <a:latin typeface="Calibri"/>
              <a:cs typeface="Calibri"/>
            </a:endParaRPr>
          </a:p>
          <a:p>
            <a:pPr marL="362585">
              <a:lnSpc>
                <a:spcPct val="100000"/>
              </a:lnSpc>
            </a:pPr>
            <a:endParaRPr lang="en-IN" sz="2000" dirty="0">
              <a:latin typeface="Calibri"/>
              <a:cs typeface="Calibri"/>
            </a:endParaRPr>
          </a:p>
        </p:txBody>
      </p:sp>
      <p:sp>
        <p:nvSpPr>
          <p:cNvPr id="10" name="object 10"/>
          <p:cNvSpPr txBox="1"/>
          <p:nvPr/>
        </p:nvSpPr>
        <p:spPr>
          <a:xfrm>
            <a:off x="9585070" y="1780311"/>
            <a:ext cx="2173605" cy="4675639"/>
          </a:xfrm>
          <a:prstGeom prst="rect">
            <a:avLst/>
          </a:prstGeom>
          <a:solidFill>
            <a:schemeClr val="accent1">
              <a:lumMod val="60000"/>
              <a:lumOff val="40000"/>
            </a:schemeClr>
          </a:solidFill>
        </p:spPr>
        <p:txBody>
          <a:bodyPr vert="horz" wrap="square" lIns="0" tIns="0" rIns="0" bIns="0" rtlCol="0">
            <a:spAutoFit/>
          </a:bodyPr>
          <a:lstStyle/>
          <a:p>
            <a:pPr>
              <a:lnSpc>
                <a:spcPct val="100000"/>
              </a:lnSpc>
            </a:pPr>
            <a:endParaRPr sz="3600" dirty="0">
              <a:latin typeface="Times New Roman"/>
              <a:cs typeface="Times New Roman"/>
            </a:endParaRPr>
          </a:p>
          <a:p>
            <a:pPr>
              <a:lnSpc>
                <a:spcPct val="100000"/>
              </a:lnSpc>
              <a:spcBef>
                <a:spcPts val="1120"/>
              </a:spcBef>
            </a:pPr>
            <a:endParaRPr sz="3600" dirty="0">
              <a:latin typeface="Times New Roman"/>
              <a:cs typeface="Times New Roman"/>
            </a:endParaRPr>
          </a:p>
          <a:p>
            <a:pPr marL="344805">
              <a:lnSpc>
                <a:spcPct val="100000"/>
              </a:lnSpc>
              <a:spcBef>
                <a:spcPts val="5"/>
              </a:spcBef>
            </a:pPr>
            <a:r>
              <a:rPr sz="3600" spc="-25" dirty="0">
                <a:latin typeface="Tahoma"/>
                <a:cs typeface="Tahoma"/>
              </a:rPr>
              <a:t>05</a:t>
            </a:r>
            <a:endParaRPr lang="en-IN" sz="3600" dirty="0">
              <a:latin typeface="Tahoma"/>
              <a:cs typeface="Tahoma"/>
            </a:endParaRPr>
          </a:p>
          <a:p>
            <a:pPr marL="139065" marR="194945">
              <a:lnSpc>
                <a:spcPct val="100000"/>
              </a:lnSpc>
              <a:spcBef>
                <a:spcPts val="1975"/>
              </a:spcBef>
            </a:pPr>
            <a:r>
              <a:rPr lang="en-IN" sz="2000" spc="-10" dirty="0">
                <a:latin typeface="Calibri"/>
                <a:cs typeface="Calibri"/>
              </a:rPr>
              <a:t>Strategic Recommendation </a:t>
            </a:r>
            <a:r>
              <a:rPr lang="en-IN" sz="2000" dirty="0">
                <a:latin typeface="Calibri"/>
                <a:cs typeface="Calibri"/>
              </a:rPr>
              <a:t>and</a:t>
            </a:r>
            <a:r>
              <a:rPr lang="en-IN" sz="2000" spc="-15" dirty="0">
                <a:latin typeface="Calibri"/>
                <a:cs typeface="Calibri"/>
              </a:rPr>
              <a:t> </a:t>
            </a:r>
            <a:r>
              <a:rPr lang="en-IN" sz="2000" spc="-10" dirty="0">
                <a:latin typeface="Calibri"/>
                <a:cs typeface="Calibri"/>
              </a:rPr>
              <a:t>Dashboard</a:t>
            </a:r>
          </a:p>
          <a:p>
            <a:pPr marL="139065" marR="194945">
              <a:lnSpc>
                <a:spcPct val="100000"/>
              </a:lnSpc>
              <a:spcBef>
                <a:spcPts val="1975"/>
              </a:spcBef>
            </a:pPr>
            <a:endParaRPr lang="en-IN" sz="2000" spc="-10" dirty="0">
              <a:latin typeface="Calibri"/>
              <a:cs typeface="Calibri"/>
            </a:endParaRPr>
          </a:p>
          <a:p>
            <a:pPr marL="139065" marR="194945">
              <a:lnSpc>
                <a:spcPct val="100000"/>
              </a:lnSpc>
              <a:spcBef>
                <a:spcPts val="1975"/>
              </a:spcBef>
            </a:pPr>
            <a:endParaRPr lang="en-IN" sz="2000" spc="-10" dirty="0">
              <a:latin typeface="Calibri"/>
              <a:cs typeface="Calibri"/>
            </a:endParaRPr>
          </a:p>
          <a:p>
            <a:pPr marL="139065" marR="194945">
              <a:lnSpc>
                <a:spcPct val="100000"/>
              </a:lnSpc>
              <a:spcBef>
                <a:spcPts val="1975"/>
              </a:spcBef>
            </a:pPr>
            <a:endParaRPr lang="en-IN" sz="2000" dirty="0">
              <a:latin typeface="Calibri"/>
              <a:cs typeface="Calibri"/>
            </a:endParaRPr>
          </a:p>
        </p:txBody>
      </p:sp>
      <p:sp>
        <p:nvSpPr>
          <p:cNvPr id="11" name="object 11"/>
          <p:cNvSpPr txBox="1"/>
          <p:nvPr/>
        </p:nvSpPr>
        <p:spPr>
          <a:xfrm>
            <a:off x="5444490" y="253364"/>
            <a:ext cx="1303020" cy="443711"/>
          </a:xfrm>
          <a:prstGeom prst="rect">
            <a:avLst/>
          </a:prstGeom>
        </p:spPr>
        <p:txBody>
          <a:bodyPr vert="horz" wrap="square" lIns="0" tIns="12700" rIns="0" bIns="0" rtlCol="0">
            <a:spAutoFit/>
          </a:bodyPr>
          <a:lstStyle/>
          <a:p>
            <a:pPr marL="12700" algn="ctr">
              <a:lnSpc>
                <a:spcPct val="100000"/>
              </a:lnSpc>
              <a:spcBef>
                <a:spcPts val="100"/>
              </a:spcBef>
            </a:pPr>
            <a:r>
              <a:rPr sz="2800" spc="-10" dirty="0">
                <a:uFill>
                  <a:solidFill>
                    <a:srgbClr val="006FC0"/>
                  </a:solidFill>
                </a:uFill>
                <a:latin typeface="Calibri" panose="020F0502020204030204" pitchFamily="34" charset="0"/>
                <a:ea typeface="Calibri" panose="020F0502020204030204" pitchFamily="34" charset="0"/>
                <a:cs typeface="Calibri" panose="020F0502020204030204" pitchFamily="34" charset="0"/>
              </a:rPr>
              <a:t>Agenda</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57700" y="762000"/>
            <a:ext cx="3276600" cy="444352"/>
          </a:xfrm>
          <a:prstGeom prst="rect">
            <a:avLst/>
          </a:prstGeom>
        </p:spPr>
        <p:txBody>
          <a:bodyPr vert="horz" wrap="square" lIns="0" tIns="13335" rIns="0" bIns="0" rtlCol="0">
            <a:spAutoFit/>
          </a:bodyPr>
          <a:lstStyle/>
          <a:p>
            <a:pPr marL="12700" algn="ctr">
              <a:lnSpc>
                <a:spcPct val="100000"/>
              </a:lnSpc>
              <a:spcBef>
                <a:spcPts val="105"/>
              </a:spcBef>
            </a:pPr>
            <a:r>
              <a:rPr sz="2800" u="sng" dirty="0">
                <a:solidFill>
                  <a:schemeClr val="tx1"/>
                </a:solidFill>
                <a:latin typeface="Calibri" panose="020F0502020204030204" pitchFamily="34" charset="0"/>
                <a:ea typeface="Calibri" panose="020F0502020204030204" pitchFamily="34" charset="0"/>
                <a:cs typeface="Calibri" panose="020F0502020204030204" pitchFamily="34" charset="0"/>
              </a:rPr>
              <a:t>Problem</a:t>
            </a:r>
            <a:r>
              <a:rPr lang="en-IN" sz="2800" u="sng" dirty="0">
                <a:solidFill>
                  <a:schemeClr val="tx1"/>
                </a:solidFill>
                <a:latin typeface="Calibri" panose="020F0502020204030204" pitchFamily="34" charset="0"/>
                <a:ea typeface="Calibri" panose="020F0502020204030204" pitchFamily="34" charset="0"/>
                <a:cs typeface="Calibri" panose="020F0502020204030204" pitchFamily="34" charset="0"/>
              </a:rPr>
              <a:t> Statement</a:t>
            </a:r>
            <a:r>
              <a:rPr sz="2800" u="sng" spc="-95"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sz="2800" u="sng"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object 3"/>
          <p:cNvSpPr txBox="1"/>
          <p:nvPr/>
        </p:nvSpPr>
        <p:spPr>
          <a:xfrm>
            <a:off x="2514600" y="1828800"/>
            <a:ext cx="7162800" cy="1994777"/>
          </a:xfrm>
          <a:prstGeom prst="rect">
            <a:avLst/>
          </a:prstGeom>
        </p:spPr>
        <p:txBody>
          <a:bodyPr vert="horz" wrap="square" lIns="0" tIns="12065" rIns="0" bIns="0" rtlCol="0">
            <a:spAutoFit/>
          </a:bodyPr>
          <a:lstStyle/>
          <a:p>
            <a:pPr marL="12700" marR="5080">
              <a:spcBef>
                <a:spcPts val="95"/>
              </a:spcBef>
            </a:pPr>
            <a:r>
              <a:rPr lang="en-US" sz="1600" dirty="0">
                <a:latin typeface="Calibri" panose="020F0502020204030204" pitchFamily="34" charset="0"/>
                <a:ea typeface="Calibri" panose="020F0502020204030204" pitchFamily="34" charset="0"/>
                <a:cs typeface="Calibri" panose="020F0502020204030204" pitchFamily="34" charset="0"/>
                <a:sym typeface="Lato"/>
              </a:rPr>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sym typeface="Lato"/>
            </a:endParaRPr>
          </a:p>
          <a:p>
            <a:pPr marL="12700" marR="5080">
              <a:lnSpc>
                <a:spcPct val="100000"/>
              </a:lnSpc>
              <a:spcBef>
                <a:spcPts val="95"/>
              </a:spcBef>
            </a:pPr>
            <a:endParaRPr sz="16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A4E2B4-C170-D393-E536-9D32CC932073}"/>
              </a:ext>
            </a:extLst>
          </p:cNvPr>
          <p:cNvSpPr txBox="1"/>
          <p:nvPr/>
        </p:nvSpPr>
        <p:spPr>
          <a:xfrm flipH="1">
            <a:off x="4762500" y="381000"/>
            <a:ext cx="26670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Data Overview</a:t>
            </a:r>
          </a:p>
        </p:txBody>
      </p:sp>
      <p:sp>
        <p:nvSpPr>
          <p:cNvPr id="8" name="Rectangle 1">
            <a:extLst>
              <a:ext uri="{FF2B5EF4-FFF2-40B4-BE49-F238E27FC236}">
                <a16:creationId xmlns:a16="http://schemas.microsoft.com/office/drawing/2014/main" id="{756E358A-2714-A5D9-70B8-80DF30C3F6EC}"/>
              </a:ext>
            </a:extLst>
          </p:cNvPr>
          <p:cNvSpPr>
            <a:spLocks noChangeArrowheads="1"/>
          </p:cNvSpPr>
          <p:nvPr/>
        </p:nvSpPr>
        <p:spPr bwMode="auto">
          <a:xfrm>
            <a:off x="2394229" y="3839289"/>
            <a:ext cx="740354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Dataset: </a:t>
            </a: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97,498 tickets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(2016–2020).</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Handled by </a:t>
            </a: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50 agents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Avg. Resolution Time:</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4.55 days.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Avg. Satisfaction Score:</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4.10.</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Covers key fields: Request Category, Severity, Priority, Resolution Time, Satisfaction.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Focus: </a:t>
            </a: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Ticket Volume, Resolution Efficiency, Customer Experience, Agent Performance</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pic>
        <p:nvPicPr>
          <p:cNvPr id="10" name="Picture 9">
            <a:extLst>
              <a:ext uri="{FF2B5EF4-FFF2-40B4-BE49-F238E27FC236}">
                <a16:creationId xmlns:a16="http://schemas.microsoft.com/office/drawing/2014/main" id="{7FBC0182-2FEA-2091-5045-5AE0C86F46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667" y="1343054"/>
            <a:ext cx="5852667" cy="20574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853226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444048" y="205181"/>
            <a:ext cx="3303904" cy="444352"/>
          </a:xfrm>
          <a:prstGeom prst="rect">
            <a:avLst/>
          </a:prstGeom>
        </p:spPr>
        <p:txBody>
          <a:bodyPr vert="horz" wrap="square" lIns="0" tIns="13335" rIns="0" bIns="0" rtlCol="0">
            <a:spAutoFit/>
          </a:bodyPr>
          <a:lstStyle/>
          <a:p>
            <a:pPr marL="12700" algn="ctr">
              <a:lnSpc>
                <a:spcPct val="100000"/>
              </a:lnSpc>
              <a:spcBef>
                <a:spcPts val="105"/>
              </a:spcBef>
            </a:pPr>
            <a:r>
              <a:rPr b="0" dirty="0">
                <a:solidFill>
                  <a:schemeClr val="tx1"/>
                </a:solidFill>
                <a:latin typeface="Calibri" panose="020F0502020204030204" pitchFamily="34" charset="0"/>
                <a:ea typeface="Calibri" panose="020F0502020204030204" pitchFamily="34" charset="0"/>
                <a:cs typeface="Calibri" panose="020F0502020204030204" pitchFamily="34" charset="0"/>
              </a:rPr>
              <a:t>Problem</a:t>
            </a:r>
            <a:r>
              <a:rPr b="0" spc="-9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IN" b="0" spc="-10" dirty="0">
                <a:solidFill>
                  <a:schemeClr val="tx1"/>
                </a:solidFill>
                <a:latin typeface="Calibri" panose="020F0502020204030204" pitchFamily="34" charset="0"/>
                <a:ea typeface="Calibri" panose="020F0502020204030204" pitchFamily="34" charset="0"/>
                <a:cs typeface="Calibri" panose="020F0502020204030204" pitchFamily="34" charset="0"/>
              </a:rPr>
              <a:t>Dataset</a:t>
            </a:r>
            <a:endParaRPr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object 3"/>
          <p:cNvSpPr txBox="1"/>
          <p:nvPr/>
        </p:nvSpPr>
        <p:spPr>
          <a:xfrm>
            <a:off x="4178437" y="981583"/>
            <a:ext cx="3835127" cy="259045"/>
          </a:xfrm>
          <a:prstGeom prst="rect">
            <a:avLst/>
          </a:prstGeom>
        </p:spPr>
        <p:txBody>
          <a:bodyPr vert="horz" wrap="square" lIns="0" tIns="12700" rIns="0" bIns="0" rtlCol="0">
            <a:spAutoFit/>
          </a:bodyPr>
          <a:lstStyle/>
          <a:p>
            <a:pPr marL="12700" marR="5080" algn="ctr">
              <a:lnSpc>
                <a:spcPct val="100000"/>
              </a:lnSpc>
              <a:spcBef>
                <a:spcPts val="100"/>
              </a:spcBef>
            </a:pPr>
            <a:r>
              <a:rPr lang="en-IN" sz="1600" b="1" dirty="0">
                <a:latin typeface="Calibri"/>
                <a:cs typeface="Calibri"/>
              </a:rPr>
              <a:t>DATASET PROVIDED: </a:t>
            </a:r>
            <a:r>
              <a:rPr lang="en-IN" sz="1600" dirty="0">
                <a:latin typeface="Calibri"/>
                <a:cs typeface="Calibri"/>
              </a:rPr>
              <a:t>IT Tickets , Agent ID</a:t>
            </a:r>
            <a:endParaRPr sz="1600" b="1" dirty="0">
              <a:latin typeface="Calibri"/>
              <a:cs typeface="Calibri"/>
            </a:endParaRPr>
          </a:p>
        </p:txBody>
      </p:sp>
      <p:pic>
        <p:nvPicPr>
          <p:cNvPr id="6" name="Picture 5">
            <a:extLst>
              <a:ext uri="{FF2B5EF4-FFF2-40B4-BE49-F238E27FC236}">
                <a16:creationId xmlns:a16="http://schemas.microsoft.com/office/drawing/2014/main" id="{B50D2BD4-CC43-5B2F-F735-51EF76D0B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79127"/>
            <a:ext cx="5867400" cy="3326273"/>
          </a:xfrm>
          <a:prstGeom prst="rect">
            <a:avLst/>
          </a:prstGeom>
        </p:spPr>
      </p:pic>
      <p:pic>
        <p:nvPicPr>
          <p:cNvPr id="8" name="Picture 7">
            <a:extLst>
              <a:ext uri="{FF2B5EF4-FFF2-40B4-BE49-F238E27FC236}">
                <a16:creationId xmlns:a16="http://schemas.microsoft.com/office/drawing/2014/main" id="{210F6B07-467C-44D3-4D0D-B7E28C9C28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8401" y="1779127"/>
            <a:ext cx="5715000" cy="33262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B16ACB-B302-3CDF-2881-826BA9867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1826" y="1420956"/>
            <a:ext cx="7948349" cy="401608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2D6B12B8-8168-34E5-92A1-76B033C02761}"/>
              </a:ext>
            </a:extLst>
          </p:cNvPr>
          <p:cNvSpPr txBox="1"/>
          <p:nvPr/>
        </p:nvSpPr>
        <p:spPr>
          <a:xfrm>
            <a:off x="3547867" y="609600"/>
            <a:ext cx="5096267"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Data Columns Description</a:t>
            </a:r>
          </a:p>
        </p:txBody>
      </p:sp>
    </p:spTree>
    <p:extLst>
      <p:ext uri="{BB962C8B-B14F-4D97-AF65-F5344CB8AC3E}">
        <p14:creationId xmlns:p14="http://schemas.microsoft.com/office/powerpoint/2010/main" val="1789986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F9259634-568A-4E7A-3EA2-90575ADA93A1}"/>
              </a:ext>
            </a:extLst>
          </p:cNvPr>
          <p:cNvSpPr>
            <a:spLocks noChangeArrowheads="1"/>
          </p:cNvSpPr>
          <p:nvPr/>
        </p:nvSpPr>
        <p:spPr bwMode="auto">
          <a:xfrm>
            <a:off x="3769979" y="1228398"/>
            <a:ext cx="465204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sz="1600" b="1" dirty="0">
                <a:latin typeface="Calibri" panose="020F0502020204030204" pitchFamily="34" charset="0"/>
                <a:ea typeface="Calibri" panose="020F0502020204030204" pitchFamily="34" charset="0"/>
                <a:cs typeface="Calibri" panose="020F0502020204030204" pitchFamily="34" charset="0"/>
              </a:rPr>
              <a:t>Data Cleaning</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Removed blanks &amp; missing values</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Fixed data types &amp; formats</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Corrected typos/inconsistencies</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Standardized categories</a:t>
            </a:r>
          </a:p>
          <a:p>
            <a:r>
              <a:rPr lang="en-IN" sz="1600" b="1" dirty="0">
                <a:latin typeface="Calibri" panose="020F0502020204030204" pitchFamily="34" charset="0"/>
                <a:ea typeface="Calibri" panose="020F0502020204030204" pitchFamily="34" charset="0"/>
                <a:cs typeface="Calibri" panose="020F0502020204030204" pitchFamily="34" charset="0"/>
              </a:rPr>
              <a:t>Data Preparation – IT Ticket Sheet</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Extracted Day, Month, Year</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Split Severity &amp; Priority (Text-to-Columns)</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Added required columns, removed unused</a:t>
            </a:r>
          </a:p>
          <a:p>
            <a:r>
              <a:rPr lang="en-IN" sz="1600" b="1" dirty="0">
                <a:latin typeface="Calibri" panose="020F0502020204030204" pitchFamily="34" charset="0"/>
                <a:ea typeface="Calibri" panose="020F0502020204030204" pitchFamily="34" charset="0"/>
                <a:cs typeface="Calibri" panose="020F0502020204030204" pitchFamily="34" charset="0"/>
              </a:rPr>
              <a:t>Data Preparation – Agent Sheet</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Calculated Age (TODAY + DATEDIF)</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Removed DOB split columns</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Added analysis columns (Tickets, Avg. Satisfaction)</a:t>
            </a:r>
          </a:p>
          <a:p>
            <a:pPr marL="285750" indent="-285750">
              <a:buFont typeface="Wingdings" panose="05000000000000000000" pitchFamily="2" charset="2"/>
              <a:buChar char="Ø"/>
            </a:pPr>
            <a:r>
              <a:rPr lang="en-IN" sz="1600" dirty="0">
                <a:latin typeface="Calibri" panose="020F0502020204030204" pitchFamily="34" charset="0"/>
                <a:ea typeface="Calibri" panose="020F0502020204030204" pitchFamily="34" charset="0"/>
                <a:cs typeface="Calibri" panose="020F0502020204030204" pitchFamily="34" charset="0"/>
              </a:rPr>
              <a:t>Defined seniority bands:</a:t>
            </a:r>
          </a:p>
          <a:p>
            <a:pPr marL="742950" lvl="1" indent="-285750">
              <a:buFont typeface="Wingdings" panose="05000000000000000000" pitchFamily="2" charset="2"/>
              <a:buChar char="v"/>
            </a:pPr>
            <a:r>
              <a:rPr lang="en-IN" sz="1600" dirty="0">
                <a:latin typeface="Calibri" panose="020F0502020204030204" pitchFamily="34" charset="0"/>
                <a:ea typeface="Calibri" panose="020F0502020204030204" pitchFamily="34" charset="0"/>
                <a:cs typeface="Calibri" panose="020F0502020204030204" pitchFamily="34" charset="0"/>
              </a:rPr>
              <a:t>Junior (≤35)</a:t>
            </a:r>
          </a:p>
          <a:p>
            <a:pPr marL="742950" lvl="1" indent="-285750">
              <a:buFont typeface="Wingdings" panose="05000000000000000000" pitchFamily="2" charset="2"/>
              <a:buChar char="v"/>
            </a:pPr>
            <a:r>
              <a:rPr lang="en-IN" sz="1600" dirty="0">
                <a:latin typeface="Calibri" panose="020F0502020204030204" pitchFamily="34" charset="0"/>
                <a:ea typeface="Calibri" panose="020F0502020204030204" pitchFamily="34" charset="0"/>
                <a:cs typeface="Calibri" panose="020F0502020204030204" pitchFamily="34" charset="0"/>
              </a:rPr>
              <a:t>Mid-Level (36–45)</a:t>
            </a:r>
          </a:p>
          <a:p>
            <a:pPr marL="742950" lvl="1" indent="-285750">
              <a:buFont typeface="Wingdings" panose="05000000000000000000" pitchFamily="2" charset="2"/>
              <a:buChar char="v"/>
            </a:pPr>
            <a:r>
              <a:rPr lang="en-IN" sz="1600" dirty="0">
                <a:latin typeface="Calibri" panose="020F0502020204030204" pitchFamily="34" charset="0"/>
                <a:ea typeface="Calibri" panose="020F0502020204030204" pitchFamily="34" charset="0"/>
                <a:cs typeface="Calibri" panose="020F0502020204030204" pitchFamily="34" charset="0"/>
              </a:rPr>
              <a:t>Senior (&gt;45)</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46601-FB83-3C93-4DD5-A2FBDA33C5CE}"/>
              </a:ext>
            </a:extLst>
          </p:cNvPr>
          <p:cNvSpPr txBox="1"/>
          <p:nvPr/>
        </p:nvSpPr>
        <p:spPr>
          <a:xfrm>
            <a:off x="4914900" y="304800"/>
            <a:ext cx="23622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Methodology</a:t>
            </a:r>
          </a:p>
        </p:txBody>
      </p:sp>
      <p:pic>
        <p:nvPicPr>
          <p:cNvPr id="3" name="Picture 2">
            <a:extLst>
              <a:ext uri="{FF2B5EF4-FFF2-40B4-BE49-F238E27FC236}">
                <a16:creationId xmlns:a16="http://schemas.microsoft.com/office/drawing/2014/main" id="{32192C97-A63C-9209-E6F0-9B7E6D0F7B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2433310"/>
            <a:ext cx="2743200" cy="19913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3AD228-8760-0908-1A69-1DF9F62505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8200" y="1752601"/>
            <a:ext cx="4395600" cy="240876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BBC49157-A098-08BB-8AD0-309D440D843F}"/>
              </a:ext>
            </a:extLst>
          </p:cNvPr>
          <p:cNvSpPr txBox="1"/>
          <p:nvPr/>
        </p:nvSpPr>
        <p:spPr>
          <a:xfrm>
            <a:off x="2895600" y="995762"/>
            <a:ext cx="64008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Monthly Tickets Distribution Analysis</a:t>
            </a:r>
          </a:p>
        </p:txBody>
      </p:sp>
      <p:sp>
        <p:nvSpPr>
          <p:cNvPr id="7" name="TextBox 6">
            <a:extLst>
              <a:ext uri="{FF2B5EF4-FFF2-40B4-BE49-F238E27FC236}">
                <a16:creationId xmlns:a16="http://schemas.microsoft.com/office/drawing/2014/main" id="{2AF15A6A-A5DD-23FB-5742-2ACFE0B5F849}"/>
              </a:ext>
            </a:extLst>
          </p:cNvPr>
          <p:cNvSpPr txBox="1"/>
          <p:nvPr/>
        </p:nvSpPr>
        <p:spPr>
          <a:xfrm>
            <a:off x="3009900" y="4495800"/>
            <a:ext cx="6172200" cy="2123658"/>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Ticket volumes are fairly stable across months (7K–8.5K).</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Highest</a:t>
            </a:r>
            <a:r>
              <a:rPr lang="en-US" sz="1600" dirty="0">
                <a:latin typeface="Calibri" panose="020F0502020204030204" pitchFamily="34" charset="0"/>
                <a:ea typeface="Calibri" panose="020F0502020204030204" pitchFamily="34" charset="0"/>
                <a:cs typeface="Calibri" panose="020F0502020204030204" pitchFamily="34" charset="0"/>
              </a:rPr>
              <a:t>: October (8,495) and August (8,489).</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Lowest</a:t>
            </a:r>
            <a:r>
              <a:rPr lang="en-US" sz="1600" dirty="0">
                <a:latin typeface="Calibri" panose="020F0502020204030204" pitchFamily="34" charset="0"/>
                <a:ea typeface="Calibri" panose="020F0502020204030204" pitchFamily="34" charset="0"/>
                <a:cs typeface="Calibri" panose="020F0502020204030204" pitchFamily="34" charset="0"/>
              </a:rPr>
              <a:t>: January (7,242).</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Slight peaks in </a:t>
            </a:r>
            <a:r>
              <a:rPr lang="en-US" sz="1600" b="1" dirty="0">
                <a:latin typeface="Calibri" panose="020F0502020204030204" pitchFamily="34" charset="0"/>
                <a:ea typeface="Calibri" panose="020F0502020204030204" pitchFamily="34" charset="0"/>
                <a:cs typeface="Calibri" panose="020F0502020204030204" pitchFamily="34" charset="0"/>
              </a:rPr>
              <a:t>Q3–Q4</a:t>
            </a:r>
            <a:r>
              <a:rPr lang="en-US" sz="1600" dirty="0">
                <a:latin typeface="Calibri" panose="020F0502020204030204" pitchFamily="34" charset="0"/>
                <a:ea typeface="Calibri" panose="020F0502020204030204" pitchFamily="34" charset="0"/>
                <a:cs typeface="Calibri" panose="020F0502020204030204" pitchFamily="34" charset="0"/>
              </a:rPr>
              <a:t> → heavier workload in second half of year.</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Plan staffing/resources for Aug–Oct</a:t>
            </a:r>
            <a:r>
              <a:rPr lang="en-US" sz="1600" dirty="0">
                <a:latin typeface="Calibri" panose="020F0502020204030204" pitchFamily="34" charset="0"/>
                <a:ea typeface="Calibri" panose="020F0502020204030204" pitchFamily="34" charset="0"/>
                <a:cs typeface="Calibri" panose="020F0502020204030204" pitchFamily="34" charset="0"/>
              </a:rPr>
              <a:t> to manage peak load efficiently.</a:t>
            </a:r>
          </a:p>
          <a:p>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4A516E0-419C-30E7-78E7-668533A1859D}"/>
              </a:ext>
            </a:extLst>
          </p:cNvPr>
          <p:cNvSpPr txBox="1"/>
          <p:nvPr/>
        </p:nvSpPr>
        <p:spPr>
          <a:xfrm>
            <a:off x="5372100" y="100343"/>
            <a:ext cx="14478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Insights</a:t>
            </a:r>
          </a:p>
        </p:txBody>
      </p:sp>
    </p:spTree>
    <p:extLst>
      <p:ext uri="{BB962C8B-B14F-4D97-AF65-F5344CB8AC3E}">
        <p14:creationId xmlns:p14="http://schemas.microsoft.com/office/powerpoint/2010/main" val="1237769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661D89-F605-CABE-E4D2-E8C4AFCAC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8405" y="1006905"/>
            <a:ext cx="4275190" cy="2436091"/>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A10873CF-D28D-A61C-C87A-C13FF69C4A5D}"/>
              </a:ext>
            </a:extLst>
          </p:cNvPr>
          <p:cNvSpPr txBox="1"/>
          <p:nvPr/>
        </p:nvSpPr>
        <p:spPr>
          <a:xfrm>
            <a:off x="2324100" y="292656"/>
            <a:ext cx="75438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Category Wise Tickets Distribution Analysis</a:t>
            </a:r>
          </a:p>
        </p:txBody>
      </p:sp>
      <p:sp>
        <p:nvSpPr>
          <p:cNvPr id="7" name="TextBox 6">
            <a:extLst>
              <a:ext uri="{FF2B5EF4-FFF2-40B4-BE49-F238E27FC236}">
                <a16:creationId xmlns:a16="http://schemas.microsoft.com/office/drawing/2014/main" id="{9D5A9054-12B8-28BA-4136-917933B7DDED}"/>
              </a:ext>
            </a:extLst>
          </p:cNvPr>
          <p:cNvSpPr txBox="1"/>
          <p:nvPr/>
        </p:nvSpPr>
        <p:spPr>
          <a:xfrm>
            <a:off x="2362200" y="3733800"/>
            <a:ext cx="7467600" cy="230832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System</a:t>
            </a:r>
            <a:r>
              <a:rPr lang="en-US" sz="1600" dirty="0">
                <a:latin typeface="Calibri" panose="020F0502020204030204" pitchFamily="34" charset="0"/>
                <a:ea typeface="Calibri" panose="020F0502020204030204" pitchFamily="34" charset="0"/>
                <a:cs typeface="Calibri" panose="020F0502020204030204" pitchFamily="34" charset="0"/>
              </a:rPr>
              <a:t> tickets dominate (39,002, ~40%).</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Login Access</a:t>
            </a:r>
            <a:r>
              <a:rPr lang="en-US" sz="1600" dirty="0">
                <a:latin typeface="Calibri" panose="020F0502020204030204" pitchFamily="34" charset="0"/>
                <a:ea typeface="Calibri" panose="020F0502020204030204" pitchFamily="34" charset="0"/>
                <a:cs typeface="Calibri" panose="020F0502020204030204" pitchFamily="34" charset="0"/>
              </a:rPr>
              <a:t> is second (29,193, ~30%).</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Software</a:t>
            </a:r>
            <a:r>
              <a:rPr lang="en-US" sz="1600" dirty="0">
                <a:latin typeface="Calibri" panose="020F0502020204030204" pitchFamily="34" charset="0"/>
                <a:ea typeface="Calibri" panose="020F0502020204030204" pitchFamily="34" charset="0"/>
                <a:cs typeface="Calibri" panose="020F0502020204030204" pitchFamily="34" charset="0"/>
              </a:rPr>
              <a:t> accounts for ~20% (19,570).</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Hardware</a:t>
            </a:r>
            <a:r>
              <a:rPr lang="en-US" sz="1600" dirty="0">
                <a:latin typeface="Calibri" panose="020F0502020204030204" pitchFamily="34" charset="0"/>
                <a:ea typeface="Calibri" panose="020F0502020204030204" pitchFamily="34" charset="0"/>
                <a:cs typeface="Calibri" panose="020F0502020204030204" pitchFamily="34" charset="0"/>
              </a:rPr>
              <a:t> has the lowest share (9,733, ~10%).</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Focus optimization on System &amp; Login Access</a:t>
            </a:r>
            <a:r>
              <a:rPr lang="en-US" sz="1600" dirty="0">
                <a:latin typeface="Calibri" panose="020F0502020204030204" pitchFamily="34" charset="0"/>
                <a:ea typeface="Calibri" panose="020F0502020204030204" pitchFamily="34" charset="0"/>
                <a:cs typeface="Calibri" panose="020F0502020204030204" pitchFamily="34" charset="0"/>
              </a:rPr>
              <a:t> since they form ~70% of total workload.</a:t>
            </a:r>
          </a:p>
          <a:p>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2486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F4300B-7F04-1CF3-6D91-CCBDE5B1D1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2698" y="914400"/>
            <a:ext cx="4206605" cy="243839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F5CEC6C2-301F-FAD6-6270-657F311D9D2A}"/>
              </a:ext>
            </a:extLst>
          </p:cNvPr>
          <p:cNvSpPr txBox="1"/>
          <p:nvPr/>
        </p:nvSpPr>
        <p:spPr>
          <a:xfrm>
            <a:off x="2743200" y="177224"/>
            <a:ext cx="67056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Monthly Avg. Satisfaction Analysis</a:t>
            </a:r>
          </a:p>
        </p:txBody>
      </p:sp>
      <p:sp>
        <p:nvSpPr>
          <p:cNvPr id="7" name="TextBox 6">
            <a:extLst>
              <a:ext uri="{FF2B5EF4-FFF2-40B4-BE49-F238E27FC236}">
                <a16:creationId xmlns:a16="http://schemas.microsoft.com/office/drawing/2014/main" id="{6C5D2A5B-DD13-29B0-FCBF-809643C0718C}"/>
              </a:ext>
            </a:extLst>
          </p:cNvPr>
          <p:cNvSpPr txBox="1"/>
          <p:nvPr/>
        </p:nvSpPr>
        <p:spPr>
          <a:xfrm>
            <a:off x="3017675" y="3657600"/>
            <a:ext cx="6156650" cy="1569660"/>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Satisfaction is </a:t>
            </a:r>
            <a:r>
              <a:rPr lang="en-US" sz="1600" b="1" dirty="0">
                <a:latin typeface="Calibri" panose="020F0502020204030204" pitchFamily="34" charset="0"/>
                <a:ea typeface="Calibri" panose="020F0502020204030204" pitchFamily="34" charset="0"/>
                <a:cs typeface="Calibri" panose="020F0502020204030204" pitchFamily="34" charset="0"/>
              </a:rPr>
              <a:t>stable around 4.07–4.15</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Highest</a:t>
            </a:r>
            <a:r>
              <a:rPr lang="en-US" sz="1600" dirty="0">
                <a:latin typeface="Calibri" panose="020F0502020204030204" pitchFamily="34" charset="0"/>
                <a:ea typeface="Calibri" panose="020F0502020204030204" pitchFamily="34" charset="0"/>
                <a:cs typeface="Calibri" panose="020F0502020204030204" pitchFamily="34" charset="0"/>
              </a:rPr>
              <a:t> in </a:t>
            </a:r>
            <a:r>
              <a:rPr lang="en-US" sz="1600" b="1" dirty="0">
                <a:latin typeface="Calibri" panose="020F0502020204030204" pitchFamily="34" charset="0"/>
                <a:ea typeface="Calibri" panose="020F0502020204030204" pitchFamily="34" charset="0"/>
                <a:cs typeface="Calibri" panose="020F0502020204030204" pitchFamily="34" charset="0"/>
              </a:rPr>
              <a:t>January (4.15)</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Lowest</a:t>
            </a:r>
            <a:r>
              <a:rPr lang="en-US" sz="1600" dirty="0">
                <a:latin typeface="Calibri" panose="020F0502020204030204" pitchFamily="34" charset="0"/>
                <a:ea typeface="Calibri" panose="020F0502020204030204" pitchFamily="34" charset="0"/>
                <a:cs typeface="Calibri" panose="020F0502020204030204" pitchFamily="34" charset="0"/>
              </a:rPr>
              <a:t> in </a:t>
            </a:r>
            <a:r>
              <a:rPr lang="en-US" sz="1600" b="1" dirty="0">
                <a:latin typeface="Calibri" panose="020F0502020204030204" pitchFamily="34" charset="0"/>
                <a:ea typeface="Calibri" panose="020F0502020204030204" pitchFamily="34" charset="0"/>
                <a:cs typeface="Calibri" panose="020F0502020204030204" pitchFamily="34" charset="0"/>
              </a:rPr>
              <a:t>Feb &amp; March (4.07)</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Investigate dips in Feb–Mar</a:t>
            </a:r>
            <a:r>
              <a:rPr lang="en-US" sz="1600" dirty="0">
                <a:latin typeface="Calibri" panose="020F0502020204030204" pitchFamily="34" charset="0"/>
                <a:ea typeface="Calibri" panose="020F0502020204030204" pitchFamily="34" charset="0"/>
                <a:cs typeface="Calibri" panose="020F0502020204030204" pitchFamily="34" charset="0"/>
              </a:rPr>
              <a:t> to maintain consistent satisfaction.</a:t>
            </a:r>
          </a:p>
        </p:txBody>
      </p:sp>
    </p:spTree>
    <p:extLst>
      <p:ext uri="{BB962C8B-B14F-4D97-AF65-F5344CB8AC3E}">
        <p14:creationId xmlns:p14="http://schemas.microsoft.com/office/powerpoint/2010/main" val="4216451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A659FA-89EA-A115-3866-64478DCF8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767" y="1019770"/>
            <a:ext cx="4450466" cy="25908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TextBox 6">
            <a:extLst>
              <a:ext uri="{FF2B5EF4-FFF2-40B4-BE49-F238E27FC236}">
                <a16:creationId xmlns:a16="http://schemas.microsoft.com/office/drawing/2014/main" id="{11180149-9DD0-D50E-061B-E608D32F3C57}"/>
              </a:ext>
            </a:extLst>
          </p:cNvPr>
          <p:cNvSpPr txBox="1"/>
          <p:nvPr/>
        </p:nvSpPr>
        <p:spPr>
          <a:xfrm>
            <a:off x="2743200" y="235566"/>
            <a:ext cx="67056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Monthly Avg. Resolution Analysis</a:t>
            </a:r>
          </a:p>
        </p:txBody>
      </p:sp>
      <p:sp>
        <p:nvSpPr>
          <p:cNvPr id="8" name="TextBox 7">
            <a:extLst>
              <a:ext uri="{FF2B5EF4-FFF2-40B4-BE49-F238E27FC236}">
                <a16:creationId xmlns:a16="http://schemas.microsoft.com/office/drawing/2014/main" id="{E7457AAD-898A-376F-2AF1-68D1849884DE}"/>
              </a:ext>
            </a:extLst>
          </p:cNvPr>
          <p:cNvSpPr txBox="1"/>
          <p:nvPr/>
        </p:nvSpPr>
        <p:spPr>
          <a:xfrm>
            <a:off x="3228391" y="3810000"/>
            <a:ext cx="5735218" cy="1846659"/>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Resolution time is </a:t>
            </a:r>
            <a:r>
              <a:rPr lang="en-US" sz="1600" b="1" dirty="0">
                <a:latin typeface="Calibri" panose="020F0502020204030204" pitchFamily="34" charset="0"/>
                <a:ea typeface="Calibri" panose="020F0502020204030204" pitchFamily="34" charset="0"/>
                <a:cs typeface="Calibri" panose="020F0502020204030204" pitchFamily="34" charset="0"/>
              </a:rPr>
              <a:t>stable ~4.50–4.62 days</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Highest</a:t>
            </a:r>
            <a:r>
              <a:rPr lang="en-US" sz="1600" dirty="0">
                <a:latin typeface="Calibri" panose="020F0502020204030204" pitchFamily="34" charset="0"/>
                <a:ea typeface="Calibri" panose="020F0502020204030204" pitchFamily="34" charset="0"/>
                <a:cs typeface="Calibri" panose="020F0502020204030204" pitchFamily="34" charset="0"/>
              </a:rPr>
              <a:t> in </a:t>
            </a:r>
            <a:r>
              <a:rPr lang="en-US" sz="1600" b="1" dirty="0">
                <a:latin typeface="Calibri" panose="020F0502020204030204" pitchFamily="34" charset="0"/>
                <a:ea typeface="Calibri" panose="020F0502020204030204" pitchFamily="34" charset="0"/>
                <a:cs typeface="Calibri" panose="020F0502020204030204" pitchFamily="34" charset="0"/>
              </a:rPr>
              <a:t>June (4.62)</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Lowest</a:t>
            </a:r>
            <a:r>
              <a:rPr lang="en-US" sz="1600" dirty="0">
                <a:latin typeface="Calibri" panose="020F0502020204030204" pitchFamily="34" charset="0"/>
                <a:ea typeface="Calibri" panose="020F0502020204030204" pitchFamily="34" charset="0"/>
                <a:cs typeface="Calibri" panose="020F0502020204030204" pitchFamily="34" charset="0"/>
              </a:rPr>
              <a:t> in </a:t>
            </a:r>
            <a:r>
              <a:rPr lang="en-US" sz="1600" b="1" dirty="0">
                <a:latin typeface="Calibri" panose="020F0502020204030204" pitchFamily="34" charset="0"/>
                <a:ea typeface="Calibri" panose="020F0502020204030204" pitchFamily="34" charset="0"/>
                <a:cs typeface="Calibri" panose="020F0502020204030204" pitchFamily="34" charset="0"/>
              </a:rPr>
              <a:t>August &amp; September (4.50)</a:t>
            </a:r>
            <a:r>
              <a:rPr lang="en-US" sz="1600" dirty="0">
                <a:latin typeface="Calibri" panose="020F0502020204030204" pitchFamily="34" charset="0"/>
                <a:ea typeface="Calibri" panose="020F0502020204030204" pitchFamily="34" charset="0"/>
                <a:cs typeface="Calibri" panose="020F0502020204030204" pitchFamily="34" charset="0"/>
              </a:rPr>
              <a:t>.</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Review June workflows</a:t>
            </a:r>
            <a:r>
              <a:rPr lang="en-US" sz="1600" dirty="0">
                <a:latin typeface="Calibri" panose="020F0502020204030204" pitchFamily="34" charset="0"/>
                <a:ea typeface="Calibri" panose="020F0502020204030204" pitchFamily="34" charset="0"/>
                <a:cs typeface="Calibri" panose="020F0502020204030204" pitchFamily="34" charset="0"/>
              </a:rPr>
              <a:t> to reduce delays.</a:t>
            </a:r>
          </a:p>
          <a:p>
            <a:endParaRPr lang="en-IN" dirty="0"/>
          </a:p>
        </p:txBody>
      </p:sp>
    </p:spTree>
    <p:extLst>
      <p:ext uri="{BB962C8B-B14F-4D97-AF65-F5344CB8AC3E}">
        <p14:creationId xmlns:p14="http://schemas.microsoft.com/office/powerpoint/2010/main" val="3511779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73E6AE-56D4-B3AE-7319-5F1DF9E2B0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7440" y="990600"/>
            <a:ext cx="4397121" cy="25908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3D09A846-4942-E94D-5FCF-2264BC1F7358}"/>
              </a:ext>
            </a:extLst>
          </p:cNvPr>
          <p:cNvSpPr txBox="1"/>
          <p:nvPr/>
        </p:nvSpPr>
        <p:spPr>
          <a:xfrm>
            <a:off x="3143249" y="235535"/>
            <a:ext cx="5905502"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Priority Wise Tickets Analysis</a:t>
            </a:r>
          </a:p>
        </p:txBody>
      </p:sp>
      <p:sp>
        <p:nvSpPr>
          <p:cNvPr id="7" name="TextBox 6">
            <a:extLst>
              <a:ext uri="{FF2B5EF4-FFF2-40B4-BE49-F238E27FC236}">
                <a16:creationId xmlns:a16="http://schemas.microsoft.com/office/drawing/2014/main" id="{E168E000-5C2C-03A3-91A5-BA3787124489}"/>
              </a:ext>
            </a:extLst>
          </p:cNvPr>
          <p:cNvSpPr txBox="1"/>
          <p:nvPr/>
        </p:nvSpPr>
        <p:spPr>
          <a:xfrm>
            <a:off x="3333749" y="3774519"/>
            <a:ext cx="5524502" cy="2092881"/>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High priority</a:t>
            </a:r>
            <a:r>
              <a:rPr lang="en-US" sz="1600" dirty="0">
                <a:latin typeface="Calibri" panose="020F0502020204030204" pitchFamily="34" charset="0"/>
                <a:ea typeface="Calibri" panose="020F0502020204030204" pitchFamily="34" charset="0"/>
                <a:cs typeface="Calibri" panose="020F0502020204030204" pitchFamily="34" charset="0"/>
              </a:rPr>
              <a:t> tickets: 36% (35,549).</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Unassigned</a:t>
            </a:r>
            <a:r>
              <a:rPr lang="en-US" sz="1600" dirty="0">
                <a:latin typeface="Calibri" panose="020F0502020204030204" pitchFamily="34" charset="0"/>
                <a:ea typeface="Calibri" panose="020F0502020204030204" pitchFamily="34" charset="0"/>
                <a:cs typeface="Calibri" panose="020F0502020204030204" pitchFamily="34" charset="0"/>
              </a:rPr>
              <a:t> tickets are very high (29,410 → 30%).</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Mid (15,845)</a:t>
            </a:r>
            <a:r>
              <a:rPr lang="en-US" sz="1600" dirty="0">
                <a:latin typeface="Calibri" panose="020F0502020204030204" pitchFamily="34" charset="0"/>
                <a:ea typeface="Calibri" panose="020F0502020204030204" pitchFamily="34" charset="0"/>
                <a:cs typeface="Calibri" panose="020F0502020204030204" pitchFamily="34" charset="0"/>
              </a:rPr>
              <a:t> and </a:t>
            </a:r>
            <a:r>
              <a:rPr lang="en-US" sz="1600" b="1" dirty="0">
                <a:latin typeface="Calibri" panose="020F0502020204030204" pitchFamily="34" charset="0"/>
                <a:ea typeface="Calibri" panose="020F0502020204030204" pitchFamily="34" charset="0"/>
                <a:cs typeface="Calibri" panose="020F0502020204030204" pitchFamily="34" charset="0"/>
              </a:rPr>
              <a:t>Low (16,694)</a:t>
            </a:r>
            <a:r>
              <a:rPr lang="en-US" sz="1600" dirty="0">
                <a:latin typeface="Calibri" panose="020F0502020204030204" pitchFamily="34" charset="0"/>
                <a:ea typeface="Calibri" panose="020F0502020204030204" pitchFamily="34" charset="0"/>
                <a:cs typeface="Calibri" panose="020F0502020204030204" pitchFamily="34" charset="0"/>
              </a:rPr>
              <a:t> are balanced but smaller share.</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Reduce unassigned tickets</a:t>
            </a:r>
            <a:r>
              <a:rPr lang="en-US" sz="1600" dirty="0">
                <a:latin typeface="Calibri" panose="020F0502020204030204" pitchFamily="34" charset="0"/>
                <a:ea typeface="Calibri" panose="020F0502020204030204" pitchFamily="34" charset="0"/>
                <a:cs typeface="Calibri" panose="020F0502020204030204" pitchFamily="34" charset="0"/>
              </a:rPr>
              <a:t> with stricter priority mapping.</a:t>
            </a:r>
          </a:p>
          <a:p>
            <a:endParaRPr lang="en-IN" dirty="0"/>
          </a:p>
        </p:txBody>
      </p:sp>
    </p:spTree>
    <p:extLst>
      <p:ext uri="{BB962C8B-B14F-4D97-AF65-F5344CB8AC3E}">
        <p14:creationId xmlns:p14="http://schemas.microsoft.com/office/powerpoint/2010/main" val="3701802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EE2A91-9E71-2369-113D-A5332BF39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4069" y="953615"/>
            <a:ext cx="5023862" cy="2556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D7F204E1-42DA-2DC1-2C9C-341A119B6251}"/>
              </a:ext>
            </a:extLst>
          </p:cNvPr>
          <p:cNvSpPr txBox="1"/>
          <p:nvPr/>
        </p:nvSpPr>
        <p:spPr>
          <a:xfrm>
            <a:off x="2771775" y="228600"/>
            <a:ext cx="6648451"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Tickets Distribution On Resolution Days</a:t>
            </a:r>
          </a:p>
        </p:txBody>
      </p:sp>
      <p:sp>
        <p:nvSpPr>
          <p:cNvPr id="7" name="TextBox 6">
            <a:extLst>
              <a:ext uri="{FF2B5EF4-FFF2-40B4-BE49-F238E27FC236}">
                <a16:creationId xmlns:a16="http://schemas.microsoft.com/office/drawing/2014/main" id="{86BEF64D-F186-E1D0-2EE7-E3CF3099DB55}"/>
              </a:ext>
            </a:extLst>
          </p:cNvPr>
          <p:cNvSpPr txBox="1"/>
          <p:nvPr/>
        </p:nvSpPr>
        <p:spPr>
          <a:xfrm>
            <a:off x="2705100" y="3810000"/>
            <a:ext cx="6781800" cy="1815882"/>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42% of tickets</a:t>
            </a:r>
            <a:r>
              <a:rPr lang="en-US" sz="1600" dirty="0">
                <a:latin typeface="Calibri" panose="020F0502020204030204" pitchFamily="34" charset="0"/>
                <a:ea typeface="Calibri" panose="020F0502020204030204" pitchFamily="34" charset="0"/>
                <a:cs typeface="Calibri" panose="020F0502020204030204" pitchFamily="34" charset="0"/>
              </a:rPr>
              <a:t> are resolved within 0-2 days → majority resolved quickly.</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79% of tickets</a:t>
            </a:r>
            <a:r>
              <a:rPr lang="en-US" sz="1600" dirty="0">
                <a:latin typeface="Calibri" panose="020F0502020204030204" pitchFamily="34" charset="0"/>
                <a:ea typeface="Calibri" panose="020F0502020204030204" pitchFamily="34" charset="0"/>
                <a:cs typeface="Calibri" panose="020F0502020204030204" pitchFamily="34" charset="0"/>
              </a:rPr>
              <a:t> are resolved within 8 days → most issues handled efficiently.</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9% of tickets</a:t>
            </a:r>
            <a:r>
              <a:rPr lang="en-US" sz="1600" dirty="0">
                <a:latin typeface="Calibri" panose="020F0502020204030204" pitchFamily="34" charset="0"/>
                <a:ea typeface="Calibri" panose="020F0502020204030204" pitchFamily="34" charset="0"/>
                <a:cs typeface="Calibri" panose="020F0502020204030204" pitchFamily="34" charset="0"/>
              </a:rPr>
              <a:t> take 12+ days → small proportion faces long delays.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&lt;0.3% of tickets</a:t>
            </a:r>
            <a:r>
              <a:rPr lang="en-US" sz="1600" dirty="0">
                <a:latin typeface="Calibri" panose="020F0502020204030204" pitchFamily="34" charset="0"/>
                <a:ea typeface="Calibri" panose="020F0502020204030204" pitchFamily="34" charset="0"/>
                <a:cs typeface="Calibri" panose="020F0502020204030204" pitchFamily="34" charset="0"/>
              </a:rPr>
              <a:t> take 18-21 days → extreme delays are rare.</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Investigate tickets taking 9+ days to identify bottlenecks.</a:t>
            </a:r>
          </a:p>
        </p:txBody>
      </p:sp>
    </p:spTree>
    <p:extLst>
      <p:ext uri="{BB962C8B-B14F-4D97-AF65-F5344CB8AC3E}">
        <p14:creationId xmlns:p14="http://schemas.microsoft.com/office/powerpoint/2010/main" val="3219505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361DAD-72E3-A9F7-DC17-8BED1028E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1900" y="1406843"/>
            <a:ext cx="4648200" cy="2286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8403EFCD-508F-4C2B-CC85-B80C42F4BE79}"/>
              </a:ext>
            </a:extLst>
          </p:cNvPr>
          <p:cNvSpPr txBox="1"/>
          <p:nvPr/>
        </p:nvSpPr>
        <p:spPr>
          <a:xfrm>
            <a:off x="2228849" y="223898"/>
            <a:ext cx="7734302" cy="954107"/>
          </a:xfrm>
          <a:prstGeom prst="rect">
            <a:avLst/>
          </a:prstGeom>
          <a:noFill/>
        </p:spPr>
        <p:txBody>
          <a:bodyPr wrap="square" rtlCol="0">
            <a:spAutoFit/>
          </a:bodyPr>
          <a:lstStyle/>
          <a:p>
            <a:r>
              <a:rPr lang="en-IN" sz="2800" u="sng" dirty="0">
                <a:latin typeface="Calibri" panose="020F0502020204030204" pitchFamily="34" charset="0"/>
                <a:ea typeface="Calibri" panose="020F0502020204030204" pitchFamily="34" charset="0"/>
                <a:cs typeface="Calibri" panose="020F0502020204030204" pitchFamily="34" charset="0"/>
              </a:rPr>
              <a:t>Avg. Resolution Time Analysis On Category Quarterly</a:t>
            </a:r>
          </a:p>
        </p:txBody>
      </p:sp>
      <p:sp>
        <p:nvSpPr>
          <p:cNvPr id="7" name="TextBox 6">
            <a:extLst>
              <a:ext uri="{FF2B5EF4-FFF2-40B4-BE49-F238E27FC236}">
                <a16:creationId xmlns:a16="http://schemas.microsoft.com/office/drawing/2014/main" id="{F6DC9519-8DB0-2AA3-1D61-79753AB11C8F}"/>
              </a:ext>
            </a:extLst>
          </p:cNvPr>
          <p:cNvSpPr txBox="1"/>
          <p:nvPr/>
        </p:nvSpPr>
        <p:spPr>
          <a:xfrm>
            <a:off x="2895600" y="3798570"/>
            <a:ext cx="6400800" cy="230832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Hardware issues</a:t>
            </a:r>
            <a:r>
              <a:rPr lang="en-US" sz="1600" dirty="0">
                <a:latin typeface="Calibri" panose="020F0502020204030204" pitchFamily="34" charset="0"/>
                <a:ea typeface="Calibri" panose="020F0502020204030204" pitchFamily="34" charset="0"/>
                <a:cs typeface="Calibri" panose="020F0502020204030204" pitchFamily="34" charset="0"/>
              </a:rPr>
              <a:t> take the longest to resolve (~7.6 days on average).</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Software and system requests</a:t>
            </a:r>
            <a:r>
              <a:rPr lang="en-US" sz="1600" dirty="0">
                <a:latin typeface="Calibri" panose="020F0502020204030204" pitchFamily="34" charset="0"/>
                <a:ea typeface="Calibri" panose="020F0502020204030204" pitchFamily="34" charset="0"/>
                <a:cs typeface="Calibri" panose="020F0502020204030204" pitchFamily="34" charset="0"/>
              </a:rPr>
              <a:t> are moderate (~5.2–6.6 days).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Login/access requests</a:t>
            </a:r>
            <a:r>
              <a:rPr lang="en-US" sz="1600" dirty="0">
                <a:latin typeface="Calibri" panose="020F0502020204030204" pitchFamily="34" charset="0"/>
                <a:ea typeface="Calibri" panose="020F0502020204030204" pitchFamily="34" charset="0"/>
                <a:cs typeface="Calibri" panose="020F0502020204030204" pitchFamily="34" charset="0"/>
              </a:rPr>
              <a:t> are resolved fastest (~0.31 days).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Quarterly trends</a:t>
            </a:r>
            <a:r>
              <a:rPr lang="en-US" sz="1600" dirty="0">
                <a:latin typeface="Calibri" panose="020F0502020204030204" pitchFamily="34" charset="0"/>
                <a:ea typeface="Calibri" panose="020F0502020204030204" pitchFamily="34" charset="0"/>
                <a:cs typeface="Calibri" panose="020F0502020204030204" pitchFamily="34" charset="0"/>
              </a:rPr>
              <a:t> are stable → resolution times consistent across Q1–Q4.</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Focus on reducing </a:t>
            </a:r>
            <a:r>
              <a:rPr lang="en-US" sz="1600" b="1" dirty="0">
                <a:latin typeface="Calibri" panose="020F0502020204030204" pitchFamily="34" charset="0"/>
                <a:ea typeface="Calibri" panose="020F0502020204030204" pitchFamily="34" charset="0"/>
                <a:cs typeface="Calibri" panose="020F0502020204030204" pitchFamily="34" charset="0"/>
              </a:rPr>
              <a:t>hardware and system resolution time.</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Maintain current efficiency for </a:t>
            </a:r>
            <a:r>
              <a:rPr lang="en-US" sz="1600" b="1" dirty="0">
                <a:latin typeface="Calibri" panose="020F0502020204030204" pitchFamily="34" charset="0"/>
                <a:ea typeface="Calibri" panose="020F0502020204030204" pitchFamily="34" charset="0"/>
                <a:cs typeface="Calibri" panose="020F0502020204030204" pitchFamily="34" charset="0"/>
              </a:rPr>
              <a:t>login/access requests</a:t>
            </a:r>
            <a:r>
              <a:rPr lang="en-US" sz="16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512328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63E618-F859-9773-BE54-DF1F36C0F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971550"/>
            <a:ext cx="4572000" cy="2667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CDA45F55-8C79-0CD8-8AFE-9F78846DC1AA}"/>
              </a:ext>
            </a:extLst>
          </p:cNvPr>
          <p:cNvSpPr txBox="1"/>
          <p:nvPr/>
        </p:nvSpPr>
        <p:spPr>
          <a:xfrm>
            <a:off x="2228849" y="215325"/>
            <a:ext cx="7734302"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Age Group Avg. Satisfaction Analysis</a:t>
            </a:r>
          </a:p>
        </p:txBody>
      </p:sp>
      <p:sp>
        <p:nvSpPr>
          <p:cNvPr id="7" name="TextBox 6">
            <a:extLst>
              <a:ext uri="{FF2B5EF4-FFF2-40B4-BE49-F238E27FC236}">
                <a16:creationId xmlns:a16="http://schemas.microsoft.com/office/drawing/2014/main" id="{FA24EC9B-124B-3BBF-4DA0-7064AC2A5EF8}"/>
              </a:ext>
            </a:extLst>
          </p:cNvPr>
          <p:cNvSpPr txBox="1"/>
          <p:nvPr/>
        </p:nvSpPr>
        <p:spPr>
          <a:xfrm>
            <a:off x="2845059" y="3810000"/>
            <a:ext cx="6501882" cy="2554545"/>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46-55 age group</a:t>
            </a:r>
            <a:r>
              <a:rPr lang="en-US" sz="1600" dirty="0">
                <a:latin typeface="Calibri" panose="020F0502020204030204" pitchFamily="34" charset="0"/>
                <a:ea typeface="Calibri" panose="020F0502020204030204" pitchFamily="34" charset="0"/>
                <a:cs typeface="Calibri" panose="020F0502020204030204" pitchFamily="34" charset="0"/>
              </a:rPr>
              <a:t> reports the highest satisfaction (4.24).</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36-45 age group</a:t>
            </a:r>
            <a:r>
              <a:rPr lang="en-US" sz="1600" dirty="0">
                <a:latin typeface="Calibri" panose="020F0502020204030204" pitchFamily="34" charset="0"/>
                <a:ea typeface="Calibri" panose="020F0502020204030204" pitchFamily="34" charset="0"/>
                <a:cs typeface="Calibri" panose="020F0502020204030204" pitchFamily="34" charset="0"/>
              </a:rPr>
              <a:t> reports the lowest satisfaction (4.00).</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Overall average satisfaction is </a:t>
            </a:r>
            <a:r>
              <a:rPr lang="en-US" sz="1600" b="1" dirty="0">
                <a:latin typeface="Calibri" panose="020F0502020204030204" pitchFamily="34" charset="0"/>
                <a:ea typeface="Calibri" panose="020F0502020204030204" pitchFamily="34" charset="0"/>
                <a:cs typeface="Calibri" panose="020F0502020204030204" pitchFamily="34" charset="0"/>
              </a:rPr>
              <a:t>4.10</a:t>
            </a:r>
            <a:r>
              <a:rPr lang="en-US" sz="1600" dirty="0">
                <a:latin typeface="Calibri" panose="020F0502020204030204" pitchFamily="34" charset="0"/>
                <a:ea typeface="Calibri" panose="020F0502020204030204" pitchFamily="34" charset="0"/>
                <a:cs typeface="Calibri" panose="020F0502020204030204" pitchFamily="34" charset="0"/>
              </a:rPr>
              <a:t>, indicating generally positive feedback.</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Investigate </a:t>
            </a:r>
            <a:r>
              <a:rPr lang="en-US" sz="1600" b="1" dirty="0">
                <a:latin typeface="Calibri" panose="020F0502020204030204" pitchFamily="34" charset="0"/>
                <a:ea typeface="Calibri" panose="020F0502020204030204" pitchFamily="34" charset="0"/>
                <a:cs typeface="Calibri" panose="020F0502020204030204" pitchFamily="34" charset="0"/>
              </a:rPr>
              <a:t>lower satisfaction in the 36-45 group</a:t>
            </a:r>
            <a:r>
              <a:rPr lang="en-US" sz="1600" dirty="0">
                <a:latin typeface="Calibri" panose="020F0502020204030204" pitchFamily="34" charset="0"/>
                <a:ea typeface="Calibri" panose="020F0502020204030204" pitchFamily="34" charset="0"/>
                <a:cs typeface="Calibri" panose="020F0502020204030204" pitchFamily="34" charset="0"/>
              </a:rPr>
              <a:t> to identify improvement areas.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Maintain or reinforce practices contributing to </a:t>
            </a:r>
            <a:r>
              <a:rPr lang="en-US" sz="1600" b="1" dirty="0">
                <a:latin typeface="Calibri" panose="020F0502020204030204" pitchFamily="34" charset="0"/>
                <a:ea typeface="Calibri" panose="020F0502020204030204" pitchFamily="34" charset="0"/>
                <a:cs typeface="Calibri" panose="020F0502020204030204" pitchFamily="34" charset="0"/>
              </a:rPr>
              <a:t>high satisfaction in the 46-55 group</a:t>
            </a:r>
            <a:r>
              <a:rPr lang="en-US" sz="16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663669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62B42B-4778-62E7-79F9-850FE47419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00" y="1083364"/>
            <a:ext cx="4876800" cy="25146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BF429C5E-166F-FA2C-BEDE-86F36F309754}"/>
              </a:ext>
            </a:extLst>
          </p:cNvPr>
          <p:cNvSpPr txBox="1"/>
          <p:nvPr/>
        </p:nvSpPr>
        <p:spPr>
          <a:xfrm>
            <a:off x="2228849" y="339826"/>
            <a:ext cx="7734302"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Tickets Distribution On Satisfaction Analysis</a:t>
            </a:r>
          </a:p>
        </p:txBody>
      </p:sp>
      <p:sp>
        <p:nvSpPr>
          <p:cNvPr id="7" name="TextBox 6">
            <a:extLst>
              <a:ext uri="{FF2B5EF4-FFF2-40B4-BE49-F238E27FC236}">
                <a16:creationId xmlns:a16="http://schemas.microsoft.com/office/drawing/2014/main" id="{C8DAA9C7-AA5A-939C-34F0-53A961430A6D}"/>
              </a:ext>
            </a:extLst>
          </p:cNvPr>
          <p:cNvSpPr txBox="1"/>
          <p:nvPr/>
        </p:nvSpPr>
        <p:spPr>
          <a:xfrm>
            <a:off x="2895600" y="4038600"/>
            <a:ext cx="6400800" cy="2308324"/>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Majority of tickets have </a:t>
            </a:r>
            <a:r>
              <a:rPr lang="en-US" sz="1600" b="1" dirty="0">
                <a:latin typeface="Calibri" panose="020F0502020204030204" pitchFamily="34" charset="0"/>
                <a:ea typeface="Calibri" panose="020F0502020204030204" pitchFamily="34" charset="0"/>
                <a:cs typeface="Calibri" panose="020F0502020204030204" pitchFamily="34" charset="0"/>
              </a:rPr>
              <a:t>high satisfaction scores</a:t>
            </a:r>
            <a:r>
              <a:rPr lang="en-US" sz="1600" dirty="0">
                <a:latin typeface="Calibri" panose="020F0502020204030204" pitchFamily="34" charset="0"/>
                <a:ea typeface="Calibri" panose="020F0502020204030204" pitchFamily="34" charset="0"/>
                <a:cs typeface="Calibri" panose="020F0502020204030204" pitchFamily="34" charset="0"/>
              </a:rPr>
              <a:t>:</a:t>
            </a:r>
          </a:p>
          <a:p>
            <a:pPr marL="742950" lvl="1" indent="-285750">
              <a:buFont typeface="Wingdings" panose="05000000000000000000" pitchFamily="2" charset="2"/>
              <a:buChar char="v"/>
            </a:pPr>
            <a:r>
              <a:rPr lang="en-US" sz="1600" dirty="0">
                <a:latin typeface="Calibri" panose="020F0502020204030204" pitchFamily="34" charset="0"/>
                <a:ea typeface="Calibri" panose="020F0502020204030204" pitchFamily="34" charset="0"/>
                <a:cs typeface="Calibri" panose="020F0502020204030204" pitchFamily="34" charset="0"/>
              </a:rPr>
              <a:t>Score 5 → 50,770 tickets (~52%)</a:t>
            </a:r>
          </a:p>
          <a:p>
            <a:pPr marL="742950" lvl="1" indent="-285750">
              <a:buFont typeface="Wingdings" panose="05000000000000000000" pitchFamily="2" charset="2"/>
              <a:buChar char="v"/>
            </a:pPr>
            <a:r>
              <a:rPr lang="en-US" sz="1600" dirty="0">
                <a:latin typeface="Calibri" panose="020F0502020204030204" pitchFamily="34" charset="0"/>
                <a:ea typeface="Calibri" panose="020F0502020204030204" pitchFamily="34" charset="0"/>
                <a:cs typeface="Calibri" panose="020F0502020204030204" pitchFamily="34" charset="0"/>
              </a:rPr>
              <a:t>Score 4 → 27,562 tickets (~28%)</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Low satisfaction (scores 1–3) account for ~20% of tickets.</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Maintain practices leading to </a:t>
            </a:r>
            <a:r>
              <a:rPr lang="en-US" sz="1600" b="1" dirty="0">
                <a:latin typeface="Calibri" panose="020F0502020204030204" pitchFamily="34" charset="0"/>
                <a:ea typeface="Calibri" panose="020F0502020204030204" pitchFamily="34" charset="0"/>
                <a:cs typeface="Calibri" panose="020F0502020204030204" pitchFamily="34" charset="0"/>
              </a:rPr>
              <a:t>high satisfaction scores (4–5)</a:t>
            </a:r>
            <a:r>
              <a:rPr lang="en-US" sz="16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Investigate tickets with </a:t>
            </a:r>
            <a:r>
              <a:rPr lang="en-US" sz="1600" b="1" dirty="0">
                <a:latin typeface="Calibri" panose="020F0502020204030204" pitchFamily="34" charset="0"/>
                <a:ea typeface="Calibri" panose="020F0502020204030204" pitchFamily="34" charset="0"/>
                <a:cs typeface="Calibri" panose="020F0502020204030204" pitchFamily="34" charset="0"/>
              </a:rPr>
              <a:t>low satisfaction (1–3)</a:t>
            </a:r>
            <a:r>
              <a:rPr lang="en-US" sz="1600" dirty="0">
                <a:latin typeface="Calibri" panose="020F0502020204030204" pitchFamily="34" charset="0"/>
                <a:ea typeface="Calibri" panose="020F0502020204030204" pitchFamily="34" charset="0"/>
                <a:cs typeface="Calibri" panose="020F0502020204030204" pitchFamily="34" charset="0"/>
              </a:rPr>
              <a:t> to identify areas for improvement.</a:t>
            </a:r>
          </a:p>
        </p:txBody>
      </p:sp>
    </p:spTree>
    <p:extLst>
      <p:ext uri="{BB962C8B-B14F-4D97-AF65-F5344CB8AC3E}">
        <p14:creationId xmlns:p14="http://schemas.microsoft.com/office/powerpoint/2010/main" val="3711820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5CBE69-6E3A-0B85-6D55-43CB4D791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8348" y="1016287"/>
            <a:ext cx="4375305" cy="24384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6" name="TextBox 5">
            <a:extLst>
              <a:ext uri="{FF2B5EF4-FFF2-40B4-BE49-F238E27FC236}">
                <a16:creationId xmlns:a16="http://schemas.microsoft.com/office/drawing/2014/main" id="{834EAC92-354A-F05F-71DE-8469F0886476}"/>
              </a:ext>
            </a:extLst>
          </p:cNvPr>
          <p:cNvSpPr txBox="1"/>
          <p:nvPr/>
        </p:nvSpPr>
        <p:spPr>
          <a:xfrm>
            <a:off x="2514600" y="228600"/>
            <a:ext cx="7162800" cy="523220"/>
          </a:xfrm>
          <a:prstGeom prst="rect">
            <a:avLst/>
          </a:prstGeom>
          <a:noFill/>
        </p:spPr>
        <p:txBody>
          <a:bodyPr wrap="square" rtlCol="0">
            <a:spAutoFit/>
          </a:bodyPr>
          <a:lstStyle/>
          <a:p>
            <a:pPr algn="ctr"/>
            <a:r>
              <a:rPr lang="en-IN" sz="2800" u="sng" dirty="0">
                <a:latin typeface="Calibri" panose="020F0502020204030204" pitchFamily="34" charset="0"/>
                <a:ea typeface="Calibri" panose="020F0502020204030204" pitchFamily="34" charset="0"/>
                <a:cs typeface="Calibri" panose="020F0502020204030204" pitchFamily="34" charset="0"/>
              </a:rPr>
              <a:t>Severity Ticket Distribution Analysis</a:t>
            </a:r>
          </a:p>
        </p:txBody>
      </p:sp>
      <p:sp>
        <p:nvSpPr>
          <p:cNvPr id="7" name="TextBox 6">
            <a:extLst>
              <a:ext uri="{FF2B5EF4-FFF2-40B4-BE49-F238E27FC236}">
                <a16:creationId xmlns:a16="http://schemas.microsoft.com/office/drawing/2014/main" id="{678F8DA2-3635-EA9E-ED20-F898B6B100C8}"/>
              </a:ext>
            </a:extLst>
          </p:cNvPr>
          <p:cNvSpPr txBox="1"/>
          <p:nvPr/>
        </p:nvSpPr>
        <p:spPr>
          <a:xfrm>
            <a:off x="3026230" y="3657599"/>
            <a:ext cx="6139541" cy="3046988"/>
          </a:xfrm>
          <a:prstGeom prst="rect">
            <a:avLst/>
          </a:prstGeom>
          <a:noFill/>
        </p:spPr>
        <p:txBody>
          <a:bodyPr wrap="square" rtlCol="0">
            <a:spAutoFit/>
          </a:bodyPr>
          <a:lstStyle/>
          <a:p>
            <a:r>
              <a:rPr lang="en-US" sz="1600" b="1" dirty="0">
                <a:latin typeface="Calibri" panose="020F0502020204030204" pitchFamily="34" charset="0"/>
                <a:ea typeface="Calibri" panose="020F0502020204030204" pitchFamily="34" charset="0"/>
                <a:cs typeface="Calibri" panose="020F0502020204030204" pitchFamily="34" charset="0"/>
              </a:rPr>
              <a:t>Insights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Most tickets are </a:t>
            </a:r>
            <a:r>
              <a:rPr lang="en-US" sz="1600" b="1" dirty="0">
                <a:latin typeface="Calibri" panose="020F0502020204030204" pitchFamily="34" charset="0"/>
                <a:ea typeface="Calibri" panose="020F0502020204030204" pitchFamily="34" charset="0"/>
                <a:cs typeface="Calibri" panose="020F0502020204030204" pitchFamily="34" charset="0"/>
              </a:rPr>
              <a:t>Normal severity</a:t>
            </a:r>
            <a:r>
              <a:rPr lang="en-US" sz="1600" dirty="0">
                <a:latin typeface="Calibri" panose="020F0502020204030204" pitchFamily="34" charset="0"/>
                <a:ea typeface="Calibri" panose="020F0502020204030204" pitchFamily="34" charset="0"/>
                <a:cs typeface="Calibri" panose="020F0502020204030204" pitchFamily="34" charset="0"/>
              </a:rPr>
              <a:t> → 88,656 tickets (~91%).</a:t>
            </a:r>
          </a:p>
          <a:p>
            <a:pPr marL="285750" indent="-285750">
              <a:buFont typeface="Wingdings" panose="05000000000000000000" pitchFamily="2" charset="2"/>
              <a:buChar char="Ø"/>
            </a:pPr>
            <a:r>
              <a:rPr lang="en-US" sz="1600" b="1" dirty="0">
                <a:latin typeface="Calibri" panose="020F0502020204030204" pitchFamily="34" charset="0"/>
                <a:ea typeface="Calibri" panose="020F0502020204030204" pitchFamily="34" charset="0"/>
                <a:cs typeface="Calibri" panose="020F0502020204030204" pitchFamily="34" charset="0"/>
              </a:rPr>
              <a:t>Major and Urgent tickets</a:t>
            </a:r>
            <a:r>
              <a:rPr lang="en-US" sz="1600" dirty="0">
                <a:latin typeface="Calibri" panose="020F0502020204030204" pitchFamily="34" charset="0"/>
                <a:ea typeface="Calibri" panose="020F0502020204030204" pitchFamily="34" charset="0"/>
                <a:cs typeface="Calibri" panose="020F0502020204030204" pitchFamily="34" charset="0"/>
              </a:rPr>
              <a:t> are a small proportion → 4,836 (~5%) and 1,392 (~1.4%) respectively.</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Minor and Unclassified tickets account for ~2.6% of total tickets.</a:t>
            </a:r>
          </a:p>
          <a:p>
            <a:r>
              <a:rPr lang="en-US" sz="1600" b="1" dirty="0">
                <a:latin typeface="Calibri" panose="020F0502020204030204" pitchFamily="34" charset="0"/>
                <a:ea typeface="Calibri" panose="020F0502020204030204" pitchFamily="34" charset="0"/>
                <a:cs typeface="Calibri" panose="020F0502020204030204" pitchFamily="34" charset="0"/>
              </a:rPr>
              <a:t>Recommendations</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Focus resources on </a:t>
            </a:r>
            <a:r>
              <a:rPr lang="en-US" sz="1600" b="1" dirty="0">
                <a:latin typeface="Calibri" panose="020F0502020204030204" pitchFamily="34" charset="0"/>
                <a:ea typeface="Calibri" panose="020F0502020204030204" pitchFamily="34" charset="0"/>
                <a:cs typeface="Calibri" panose="020F0502020204030204" pitchFamily="34" charset="0"/>
              </a:rPr>
              <a:t>Major and Urgent tickets</a:t>
            </a:r>
            <a:r>
              <a:rPr lang="en-US" sz="1600" dirty="0">
                <a:latin typeface="Calibri" panose="020F0502020204030204" pitchFamily="34" charset="0"/>
                <a:ea typeface="Calibri" panose="020F0502020204030204" pitchFamily="34" charset="0"/>
                <a:cs typeface="Calibri" panose="020F0502020204030204" pitchFamily="34" charset="0"/>
              </a:rPr>
              <a:t> to ensure timely resolution.</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Maintain efficiency for </a:t>
            </a:r>
            <a:r>
              <a:rPr lang="en-US" sz="1600" b="1" dirty="0">
                <a:latin typeface="Calibri" panose="020F0502020204030204" pitchFamily="34" charset="0"/>
                <a:ea typeface="Calibri" panose="020F0502020204030204" pitchFamily="34" charset="0"/>
                <a:cs typeface="Calibri" panose="020F0502020204030204" pitchFamily="34" charset="0"/>
              </a:rPr>
              <a:t>Normal tickets</a:t>
            </a:r>
            <a:r>
              <a:rPr lang="en-US" sz="1600" dirty="0">
                <a:latin typeface="Calibri" panose="020F0502020204030204" pitchFamily="34" charset="0"/>
                <a:ea typeface="Calibri" panose="020F0502020204030204" pitchFamily="34" charset="0"/>
                <a:cs typeface="Calibri" panose="020F0502020204030204" pitchFamily="34" charset="0"/>
              </a:rPr>
              <a:t>, as they form the bulk of workload.</a:t>
            </a:r>
          </a:p>
          <a:p>
            <a:pPr marL="285750" indent="-285750">
              <a:buFont typeface="Wingdings" panose="05000000000000000000" pitchFamily="2" charset="2"/>
              <a:buChar char="Ø"/>
            </a:pPr>
            <a:r>
              <a:rPr lang="en-US" sz="1600" dirty="0">
                <a:latin typeface="Calibri" panose="020F0502020204030204" pitchFamily="34" charset="0"/>
                <a:ea typeface="Calibri" panose="020F0502020204030204" pitchFamily="34" charset="0"/>
                <a:cs typeface="Calibri" panose="020F0502020204030204" pitchFamily="34" charset="0"/>
              </a:rPr>
              <a:t>Investigate </a:t>
            </a:r>
            <a:r>
              <a:rPr lang="en-US" sz="1600" b="1" dirty="0">
                <a:latin typeface="Calibri" panose="020F0502020204030204" pitchFamily="34" charset="0"/>
                <a:ea typeface="Calibri" panose="020F0502020204030204" pitchFamily="34" charset="0"/>
                <a:cs typeface="Calibri" panose="020F0502020204030204" pitchFamily="34" charset="0"/>
              </a:rPr>
              <a:t>Unclassified tickets</a:t>
            </a:r>
            <a:r>
              <a:rPr lang="en-US" sz="1600" dirty="0">
                <a:latin typeface="Calibri" panose="020F0502020204030204" pitchFamily="34" charset="0"/>
                <a:ea typeface="Calibri" panose="020F0502020204030204" pitchFamily="34" charset="0"/>
                <a:cs typeface="Calibri" panose="020F0502020204030204" pitchFamily="34" charset="0"/>
              </a:rPr>
              <a:t> to properly categorize and handle them.</a:t>
            </a:r>
          </a:p>
        </p:txBody>
      </p:sp>
    </p:spTree>
    <p:extLst>
      <p:ext uri="{BB962C8B-B14F-4D97-AF65-F5344CB8AC3E}">
        <p14:creationId xmlns:p14="http://schemas.microsoft.com/office/powerpoint/2010/main" val="3834179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6FBF99-B10C-C158-FD86-843E55E5F92F}"/>
              </a:ext>
            </a:extLst>
          </p:cNvPr>
          <p:cNvSpPr txBox="1"/>
          <p:nvPr/>
        </p:nvSpPr>
        <p:spPr>
          <a:xfrm>
            <a:off x="3886200" y="304800"/>
            <a:ext cx="4419600" cy="523220"/>
          </a:xfrm>
          <a:prstGeom prst="rect">
            <a:avLst/>
          </a:prstGeom>
          <a:noFill/>
        </p:spPr>
        <p:txBody>
          <a:bodyPr wrap="square" rtlCol="0">
            <a:spAutoFit/>
          </a:bodyPr>
          <a:lstStyle/>
          <a:p>
            <a:pPr algn="ctr"/>
            <a:r>
              <a:rPr lang="en-US" sz="2800" u="sng" dirty="0">
                <a:latin typeface="Calibri" panose="020F0502020204030204" pitchFamily="34" charset="0"/>
                <a:ea typeface="Calibri" panose="020F0502020204030204" pitchFamily="34" charset="0"/>
                <a:cs typeface="Calibri" panose="020F0502020204030204" pitchFamily="34" charset="0"/>
              </a:rPr>
              <a:t>FINAL DASHBOARD</a:t>
            </a:r>
            <a:endParaRPr lang="en-IN" sz="2800" u="sng"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B7DFB5E1-08AF-338C-1579-DB715AF7033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4800" y="1143000"/>
            <a:ext cx="11582400" cy="43253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0E920C-F1A2-37C4-C520-96938DAC41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1479" y="228600"/>
            <a:ext cx="6729043" cy="8382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Rectangle 1">
            <a:extLst>
              <a:ext uri="{FF2B5EF4-FFF2-40B4-BE49-F238E27FC236}">
                <a16:creationId xmlns:a16="http://schemas.microsoft.com/office/drawing/2014/main" id="{278FBDF0-BD7E-4B7C-BB34-D7ABD3798BC8}"/>
              </a:ext>
            </a:extLst>
          </p:cNvPr>
          <p:cNvSpPr>
            <a:spLocks noChangeArrowheads="1"/>
          </p:cNvSpPr>
          <p:nvPr/>
        </p:nvSpPr>
        <p:spPr bwMode="auto">
          <a:xfrm>
            <a:off x="2247900" y="1465421"/>
            <a:ext cx="7696200"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Prioritize High &amp; Urgent tickets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Ensure faster handling of Major/Urgent tickets (High priority: 36%, Unassigned: 30%).</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Optimize hardware &amp; system requests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Hardware takes longest (~7.6 days); System &amp; Login Access form ~70% of workload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Focus on resolution efficiency</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defTabSz="914400" eaLnBrk="0" fontAlgn="base" hangingPunct="0">
              <a:spcBef>
                <a:spcPct val="0"/>
              </a:spcBef>
              <a:spcAft>
                <a:spcPct val="0"/>
              </a:spcAft>
              <a:buFont typeface="Wingdings" panose="05000000000000000000" pitchFamily="2" charset="2"/>
              <a:buChar char="v"/>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0–8 days → 79% tickets resolved quickly.</a:t>
            </a:r>
          </a:p>
          <a:p>
            <a:pPr marL="742950" lvl="1" indent="-285750" defTabSz="914400" eaLnBrk="0" fontAlgn="base" hangingPunct="0">
              <a:spcBef>
                <a:spcPct val="0"/>
              </a:spcBef>
              <a:spcAft>
                <a:spcPct val="0"/>
              </a:spcAft>
              <a:buFont typeface="Wingdings" panose="05000000000000000000" pitchFamily="2" charset="2"/>
              <a:buChar char="v"/>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Target 3–8 day tickets to shift more into 0–2 day range.</a:t>
            </a:r>
          </a:p>
          <a:p>
            <a:pPr lvl="1" defTabSz="914400" eaLnBrk="0" fontAlgn="base" hangingPunct="0">
              <a:spcBef>
                <a:spcPct val="0"/>
              </a:spcBef>
              <a:spcAft>
                <a:spcPct val="0"/>
              </a:spcAf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Manage peak months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August–October see higher ticket volumes → allocate resources/staffing accordingly.</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Maintain high customer satisfaction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742950" lvl="1" indent="-285750" defTabSz="914400" eaLnBrk="0" fontAlgn="base" hangingPunct="0">
              <a:spcBef>
                <a:spcPct val="0"/>
              </a:spcBef>
              <a:spcAft>
                <a:spcPct val="0"/>
              </a:spcAft>
              <a:buFont typeface="Wingdings" panose="05000000000000000000" pitchFamily="2" charset="2"/>
              <a:buChar char="v"/>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Overall satisfaction ~4.10.</a:t>
            </a:r>
          </a:p>
          <a:p>
            <a:pPr marL="742950" lvl="1" indent="-285750" defTabSz="914400" eaLnBrk="0" fontAlgn="base" hangingPunct="0">
              <a:spcBef>
                <a:spcPct val="0"/>
              </a:spcBef>
              <a:spcAft>
                <a:spcPct val="0"/>
              </a:spcAft>
              <a:buFont typeface="Wingdings" panose="05000000000000000000" pitchFamily="2" charset="2"/>
              <a:buChar char="v"/>
            </a:pP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Investigate dips (Feb–Mar, 36–45 age group, low-score tickets) to sustain quality.</a:t>
            </a:r>
          </a:p>
          <a:p>
            <a:pPr lvl="1" defTabSz="914400" eaLnBrk="0" fontAlgn="base" hangingPunct="0">
              <a:spcBef>
                <a:spcPct val="0"/>
              </a:spcBef>
              <a:spcAft>
                <a:spcPct val="0"/>
              </a:spcAf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Monitor trends quarterly</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Keep</a:t>
            </a:r>
            <a:r>
              <a:rPr lang="en-US" altLang="en-US" sz="1600" dirty="0">
                <a:latin typeface="Calibri" panose="020F0502020204030204" pitchFamily="34" charset="0"/>
                <a:ea typeface="Calibri" panose="020F0502020204030204" pitchFamily="34" charset="0"/>
                <a:cs typeface="Calibri" panose="020F0502020204030204" pitchFamily="34" charset="0"/>
              </a:rPr>
              <a:t> </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tracking monthly/quarterly resolution times and satisfaction to detect early delays.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E3C0DC-E258-169E-E951-DC9BFA11BB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4806" y="304801"/>
            <a:ext cx="6782388" cy="99059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5" name="TextBox 4">
            <a:extLst>
              <a:ext uri="{FF2B5EF4-FFF2-40B4-BE49-F238E27FC236}">
                <a16:creationId xmlns:a16="http://schemas.microsoft.com/office/drawing/2014/main" id="{55E90FF3-4340-3D5F-E5B9-04924FDA6E34}"/>
              </a:ext>
            </a:extLst>
          </p:cNvPr>
          <p:cNvSpPr txBox="1"/>
          <p:nvPr/>
        </p:nvSpPr>
        <p:spPr>
          <a:xfrm>
            <a:off x="2590800" y="1752600"/>
            <a:ext cx="6782388" cy="369332"/>
          </a:xfrm>
          <a:prstGeom prst="rect">
            <a:avLst/>
          </a:prstGeom>
          <a:noFill/>
        </p:spPr>
        <p:txBody>
          <a:bodyPr wrap="square" rtlCol="0">
            <a:spAutoFit/>
          </a:bodyPr>
          <a:lstStyle/>
          <a:p>
            <a:endParaRPr lang="en-IN" dirty="0"/>
          </a:p>
        </p:txBody>
      </p:sp>
      <p:sp>
        <p:nvSpPr>
          <p:cNvPr id="6" name="Rectangle 1">
            <a:extLst>
              <a:ext uri="{FF2B5EF4-FFF2-40B4-BE49-F238E27FC236}">
                <a16:creationId xmlns:a16="http://schemas.microsoft.com/office/drawing/2014/main" id="{AEF4C9D8-1623-8F3B-65D7-337886B9FD5C}"/>
              </a:ext>
            </a:extLst>
          </p:cNvPr>
          <p:cNvSpPr>
            <a:spLocks noChangeArrowheads="1"/>
          </p:cNvSpPr>
          <p:nvPr/>
        </p:nvSpPr>
        <p:spPr bwMode="auto">
          <a:xfrm>
            <a:off x="2666706" y="1600200"/>
            <a:ext cx="6858588"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Ticket Prioritization: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Only 36% of Major/Urgent tickets are correctly marked High priority; 30% remain unassigned.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Request Category Bottlenecks: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Hardware requests take the longest (~7.6 days); System and Login Access tickets together make up ~70% of total workload.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Resolution Efficiency:</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Majority (79%) of tickets resolved within 0–8 days; 3–8 day tickets indicate potential delays.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Peak Periods:</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Ticket volumes highest in August–October.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Customer Satisfaction:</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Overall ~4.10; slight dips observed in Feb–Mar and among mid-level (36–45) age group tickets.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Trend Stability:</a:t>
            </a:r>
            <a: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Monthly and quarterly resolution times and satisfaction rates are generally stable, with minor fluctuations.</a:t>
            </a:r>
          </a:p>
        </p:txBody>
      </p:sp>
    </p:spTree>
    <p:extLst>
      <p:ext uri="{BB962C8B-B14F-4D97-AF65-F5344CB8AC3E}">
        <p14:creationId xmlns:p14="http://schemas.microsoft.com/office/powerpoint/2010/main" val="325915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DAE850-7783-BB64-D857-37D60EE5E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000" y="1981200"/>
            <a:ext cx="5334000" cy="22174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19195540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586</TotalTime>
  <Words>1220</Words>
  <Application>Microsoft Office PowerPoint</Application>
  <PresentationFormat>Widescreen</PresentationFormat>
  <Paragraphs>179</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Tahoma</vt:lpstr>
      <vt:lpstr>Times New Roman</vt:lpstr>
      <vt:lpstr>Trebuchet MS</vt:lpstr>
      <vt:lpstr>Wingdings</vt:lpstr>
      <vt:lpstr>Wingdings 3</vt:lpstr>
      <vt:lpstr>Facet</vt:lpstr>
      <vt:lpstr>Spreadsheet Project</vt:lpstr>
      <vt:lpstr>What is IT Ticket Analysis </vt:lpstr>
      <vt:lpstr>PowerPoint Presentation</vt:lpstr>
      <vt:lpstr>Problem Statement </vt:lpstr>
      <vt:lpstr>PowerPoint Presentation</vt:lpstr>
      <vt:lpstr>Problem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tuhina ghosh</dc:creator>
  <cp:lastModifiedBy>Ansh Verma</cp:lastModifiedBy>
  <cp:revision>10</cp:revision>
  <dcterms:created xsi:type="dcterms:W3CDTF">2025-09-27T12:38:58Z</dcterms:created>
  <dcterms:modified xsi:type="dcterms:W3CDTF">2025-10-03T10:49:31Z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2025-09-23T00:00:00Z</vt:filetime>
  </property>
  <property fmtid="{D5CDD505-2E9C-101B-9397-08002B2CF9AE}" pid="3" name="Creator">
    <vt:lpwstr>Microsoft® PowerPoint® 2019</vt:lpwstr>
  </property>
  <property fmtid="{D5CDD505-2E9C-101B-9397-08002B2CF9AE}" pid="4" name="LastSaved">
    <vt:filetime>2025-09-27T00:00:00Z</vt:filetime>
  </property>
  <property fmtid="{D5CDD505-2E9C-101B-9397-08002B2CF9AE}" pid="5" name="Producer">
    <vt:lpwstr>Microsoft® PowerPoint® 2019</vt:lpwstr>
  </property>
</Properties>
</file>